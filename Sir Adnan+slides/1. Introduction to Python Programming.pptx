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21"/>
  </p:notesMasterIdLst>
  <p:handoutMasterIdLst>
    <p:handoutMasterId r:id="rId22"/>
  </p:handoutMasterIdLst>
  <p:sldIdLst>
    <p:sldId id="367" r:id="rId2"/>
    <p:sldId id="349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9" r:id="rId11"/>
    <p:sldId id="357" r:id="rId12"/>
    <p:sldId id="358" r:id="rId13"/>
    <p:sldId id="360" r:id="rId14"/>
    <p:sldId id="361" r:id="rId15"/>
    <p:sldId id="362" r:id="rId16"/>
    <p:sldId id="364" r:id="rId17"/>
    <p:sldId id="365" r:id="rId18"/>
    <p:sldId id="363" r:id="rId19"/>
    <p:sldId id="366" r:id="rId20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00FF"/>
    <a:srgbClr val="CCCC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A53238-CAC0-46D4-AB73-5CE29A15898D}" type="datetimeFigureOut">
              <a:rPr lang="en-US"/>
              <a:pPr/>
              <a:t>4/4/2022</a:t>
            </a:fld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BB4236-354B-482F-A28A-0064240E2C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09589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77D1109-FCA5-4717-8E3B-E8764E699A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548211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63FBA-52BF-4C79-8B85-9C0AFCC8B726}" type="slidenum">
              <a:rPr lang="en-US"/>
              <a:pPr/>
              <a:t>1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pitchFamily="123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866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530225" y="2663825"/>
            <a:ext cx="457200" cy="398463"/>
          </a:xfrm>
          <a:prstGeom prst="rect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solidFill>
                <a:schemeClr val="tx2"/>
              </a:solidFill>
              <a:latin typeface="Arial" charset="0"/>
              <a:ea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ltGray">
          <a:xfrm>
            <a:off x="538163" y="2982913"/>
            <a:ext cx="422275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ltGray">
          <a:xfrm>
            <a:off x="835025" y="2909888"/>
            <a:ext cx="368300" cy="474662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ltGray">
          <a:xfrm>
            <a:off x="225425" y="2833688"/>
            <a:ext cx="457200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latin typeface="Arial" charset="0"/>
              <a:ea typeface="+mn-ea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758825" y="2452688"/>
            <a:ext cx="31750" cy="1052512"/>
          </a:xfrm>
          <a:prstGeom prst="rect">
            <a:avLst/>
          </a:prstGeom>
          <a:solidFill>
            <a:srgbClr val="9933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gray">
          <a:xfrm>
            <a:off x="457200" y="3290888"/>
            <a:ext cx="8683625" cy="46037"/>
          </a:xfrm>
          <a:prstGeom prst="rect">
            <a:avLst/>
          </a:prstGeom>
          <a:gradFill rotWithShape="0">
            <a:gsLst>
              <a:gs pos="0">
                <a:srgbClr val="591800"/>
              </a:gs>
              <a:gs pos="100000">
                <a:srgbClr val="C1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solidFill>
                <a:srgbClr val="993300"/>
              </a:solidFill>
              <a:latin typeface="Arial" pitchFamily="34" charset="0"/>
            </a:endParaRPr>
          </a:p>
        </p:txBody>
      </p:sp>
      <p:pic>
        <p:nvPicPr>
          <p:cNvPr id="10" name="Picture 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5334000"/>
            <a:ext cx="1371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2209800"/>
            <a:ext cx="7620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620000" cy="762000"/>
          </a:xfrm>
        </p:spPr>
        <p:txBody>
          <a:bodyPr/>
          <a:lstStyle>
            <a:lvl1pPr marL="0" indent="0" algn="ctr">
              <a:buFont typeface="Wingdings" charset="2"/>
              <a:buNone/>
              <a:defRPr>
                <a:solidFill>
                  <a:srgbClr val="99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077200" y="6553200"/>
            <a:ext cx="1066800" cy="304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fld id="{3D54EF2D-FD43-47DD-865A-97FFCFDBAB49}" type="datetime5">
              <a:rPr lang="en-US"/>
              <a:pPr/>
              <a:t>4-Apr-22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3C1B03-0993-4B56-8AC7-1F376C495D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C8463E-3D75-4B91-ABBC-00F83E8226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21005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9650" y="1371600"/>
            <a:ext cx="4211638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3954D-E184-421C-AF54-C602140A88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7E6A9F-48F3-46F0-AF45-2202115821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5C8E12-A6C5-4284-8C99-3456C36EE9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5CDADB-0D4D-4D56-B67F-19547B2A56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2BE86A-CFED-4459-8512-DAA44D6292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3068AD-FE32-43F9-B211-00E571E50DA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68BB1-589C-4BE2-8573-8C9096C752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228600"/>
            <a:ext cx="2143125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278563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FD209B-AB01-46CD-A1E2-C238354EEE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" preserve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6705600" cy="1752600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362200"/>
            <a:ext cx="4267200" cy="4038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522CA1-B531-4BC9-8251-6BA15033E8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228600"/>
            <a:ext cx="779303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57408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9082DD3-4162-47C3-A307-C22F7F02D9E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530225" y="363538"/>
            <a:ext cx="457200" cy="398462"/>
          </a:xfrm>
          <a:prstGeom prst="rect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solidFill>
                <a:schemeClr val="tx2"/>
              </a:solidFill>
              <a:latin typeface="Arial" charset="0"/>
              <a:ea typeface="+mn-ea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38163" y="682625"/>
            <a:ext cx="422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835025" y="609600"/>
            <a:ext cx="368300" cy="474663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225425" y="533400"/>
            <a:ext cx="457200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latin typeface="Arial" charset="0"/>
              <a:ea typeface="+mn-ea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58825" y="152400"/>
            <a:ext cx="31750" cy="1052513"/>
          </a:xfrm>
          <a:prstGeom prst="rect">
            <a:avLst/>
          </a:prstGeom>
          <a:solidFill>
            <a:srgbClr val="9933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57200" y="990600"/>
            <a:ext cx="8683625" cy="46038"/>
          </a:xfrm>
          <a:prstGeom prst="rect">
            <a:avLst/>
          </a:prstGeom>
          <a:gradFill rotWithShape="0">
            <a:gsLst>
              <a:gs pos="0">
                <a:srgbClr val="471800"/>
              </a:gs>
              <a:gs pos="100000">
                <a:srgbClr val="99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solidFill>
                <a:srgbClr val="993300"/>
              </a:solidFill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 bldLvl="5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+mj-lt"/>
          <a:ea typeface="MS PGothic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c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Internet Of Things – Python Programming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962400" y="5257800"/>
            <a:ext cx="1524000" cy="137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609600"/>
            <a:ext cx="601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 smtClean="0">
                <a:solidFill>
                  <a:schemeClr val="accent2">
                    <a:lumMod val="75000"/>
                  </a:schemeClr>
                </a:solidFill>
              </a:rPr>
              <a:t>KAMYAAB  JAWAN  PAKISTAN</a:t>
            </a:r>
            <a:endParaRPr lang="en-US" sz="4400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838200" y="3505200"/>
            <a:ext cx="7620000" cy="7620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Introduction to Python Programming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smtClean="0"/>
              <a:t>Introduction to Python Programming</a:t>
            </a:r>
            <a:endParaRPr lang="en-US" sz="4400" b="1" dirty="0" smtClean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b="1" dirty="0"/>
              <a:t>Python is a D</a:t>
            </a:r>
            <a:r>
              <a:rPr lang="en-US" b="1" dirty="0" smtClean="0"/>
              <a:t>ynamic </a:t>
            </a:r>
            <a:r>
              <a:rPr lang="en-US" b="1" dirty="0"/>
              <a:t>Language:</a:t>
            </a:r>
            <a:r>
              <a:rPr lang="en-US" dirty="0"/>
              <a:t> Python is a </a:t>
            </a:r>
            <a:r>
              <a:rPr lang="en-US" dirty="0" smtClean="0"/>
              <a:t>dynamic </a:t>
            </a:r>
            <a:r>
              <a:rPr lang="en-US" dirty="0"/>
              <a:t>language for the </a:t>
            </a:r>
            <a:r>
              <a:rPr lang="en-US" dirty="0" smtClean="0"/>
              <a:t>beginner to advance level programmers </a:t>
            </a:r>
            <a:r>
              <a:rPr lang="en-US" dirty="0"/>
              <a:t>and supports the development of a wide range of applications </a:t>
            </a:r>
            <a:r>
              <a:rPr lang="en-US" dirty="0" smtClean="0"/>
              <a:t>include</a:t>
            </a:r>
          </a:p>
          <a:p>
            <a:r>
              <a:rPr lang="en-US" dirty="0"/>
              <a:t>S</a:t>
            </a:r>
            <a:r>
              <a:rPr lang="en-US" dirty="0" smtClean="0"/>
              <a:t>imple </a:t>
            </a:r>
            <a:r>
              <a:rPr lang="en-US" dirty="0"/>
              <a:t>text processing </a:t>
            </a:r>
            <a:r>
              <a:rPr lang="en-US" dirty="0" smtClean="0"/>
              <a:t>applications</a:t>
            </a:r>
          </a:p>
          <a:p>
            <a:r>
              <a:rPr lang="en-US" dirty="0"/>
              <a:t>F</a:t>
            </a:r>
            <a:r>
              <a:rPr lang="en-US" dirty="0" smtClean="0"/>
              <a:t>unctional applications </a:t>
            </a:r>
          </a:p>
          <a:p>
            <a:r>
              <a:rPr lang="en-US" dirty="0" smtClean="0"/>
              <a:t>Object-Oriented base applications</a:t>
            </a:r>
          </a:p>
          <a:p>
            <a:r>
              <a:rPr lang="en-US" dirty="0" smtClean="0"/>
              <a:t> Web applications </a:t>
            </a:r>
          </a:p>
          <a:p>
            <a:r>
              <a:rPr lang="en-US" dirty="0" smtClean="0"/>
              <a:t>GUI base applications </a:t>
            </a:r>
            <a:endParaRPr lang="en-US" dirty="0"/>
          </a:p>
          <a:p>
            <a:r>
              <a:rPr lang="en-US" dirty="0" smtClean="0"/>
              <a:t>Interactive Gaming programming.</a:t>
            </a:r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5947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History of Python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dirty="0"/>
              <a:t>Python was developed by Guido van Rossum in the late eighties and early nineties at the National Research Institute for Mathematics and Computer Science in the Netherlands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Python </a:t>
            </a:r>
            <a:r>
              <a:rPr lang="en-US" dirty="0"/>
              <a:t>is derived from many other languages, including ABC, Modula-3, C, C++, Algol-68, </a:t>
            </a:r>
            <a:r>
              <a:rPr lang="en-US" dirty="0" err="1"/>
              <a:t>SmallTalk</a:t>
            </a:r>
            <a:r>
              <a:rPr lang="en-US" dirty="0"/>
              <a:t>, and Unix shell and other scripting languages</a:t>
            </a:r>
            <a:r>
              <a:rPr lang="en-US" dirty="0" smtClean="0"/>
              <a:t>.</a:t>
            </a:r>
          </a:p>
          <a:p>
            <a:r>
              <a:rPr lang="en-US" dirty="0"/>
              <a:t>Python is copyrighted. Like Perl, Python source code is now available under the GNU General Public License (GPL</a:t>
            </a:r>
            <a:r>
              <a:rPr lang="en-US" dirty="0" smtClean="0"/>
              <a:t>).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1762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Python Features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b="1" dirty="0"/>
              <a:t>Easy-to-learn:</a:t>
            </a:r>
            <a:r>
              <a:rPr lang="en-US" dirty="0"/>
              <a:t> Python has few keywords, simple structure, and a clearly defined syntax. This allows the student to pick up the language quickly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Easy-to-read:</a:t>
            </a:r>
            <a:r>
              <a:rPr lang="en-US" dirty="0"/>
              <a:t> Python code is more clearly defined and visible to the eyes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b="1" dirty="0" smtClean="0"/>
              <a:t>Easy-to-maintain:</a:t>
            </a:r>
            <a:r>
              <a:rPr lang="en-US" dirty="0" smtClean="0"/>
              <a:t> </a:t>
            </a:r>
            <a:r>
              <a:rPr lang="en-US" dirty="0"/>
              <a:t>Python code is </a:t>
            </a:r>
            <a:r>
              <a:rPr lang="en-US" dirty="0" smtClean="0"/>
              <a:t>fairly easy to maintain. You don’t have to put all the source python files at one place.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2319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Python Features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b="1" dirty="0"/>
              <a:t>Interactive Mode</a:t>
            </a:r>
            <a:r>
              <a:rPr lang="en-US" b="1" dirty="0" smtClean="0"/>
              <a:t>: </a:t>
            </a:r>
            <a:r>
              <a:rPr lang="en-US" dirty="0" smtClean="0"/>
              <a:t>Python </a:t>
            </a:r>
            <a:r>
              <a:rPr lang="en-US" dirty="0"/>
              <a:t>has support for an interactive mode which allows interactive testing and debugging of snippets of code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Portable:</a:t>
            </a:r>
            <a:r>
              <a:rPr lang="en-US" dirty="0"/>
              <a:t> Python can run on a wide variety of hardware platforms and has the same interface on all platforms.</a:t>
            </a:r>
          </a:p>
          <a:p>
            <a:endParaRPr lang="en-US" dirty="0" smtClean="0"/>
          </a:p>
          <a:p>
            <a:r>
              <a:rPr lang="en-US" b="1" dirty="0"/>
              <a:t>Extendable:</a:t>
            </a:r>
            <a:r>
              <a:rPr lang="en-US" dirty="0"/>
              <a:t> You can add low-level modules to the Python interpreter. These modules enable programmers to add to or customize their tools to be more efficient.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8281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Python Features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b="1" dirty="0"/>
              <a:t>Databases:</a:t>
            </a:r>
            <a:r>
              <a:rPr lang="en-US" dirty="0"/>
              <a:t> Python provides interfaces to all major commercial databases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GUI Programming:</a:t>
            </a:r>
            <a:r>
              <a:rPr lang="en-US" dirty="0"/>
              <a:t> Python supports GUI applications that can be created and ported to many system calls, libraries and windows systems, such as </a:t>
            </a:r>
            <a:r>
              <a:rPr lang="en-US" dirty="0" smtClean="0"/>
              <a:t>Windows, </a:t>
            </a:r>
            <a:r>
              <a:rPr lang="en-US" dirty="0"/>
              <a:t>Macintosh, </a:t>
            </a:r>
            <a:r>
              <a:rPr lang="en-US" dirty="0" smtClean="0"/>
              <a:t>Unix, Linux.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/>
              <a:t>Scalable:</a:t>
            </a:r>
            <a:r>
              <a:rPr lang="en-US" dirty="0"/>
              <a:t> Python provides a better structure and support for large programs than shell scripting.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4865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Python Features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Apart from the above-mentioned features, Python has a big list of good features, few are listed below:</a:t>
            </a:r>
          </a:p>
          <a:p>
            <a:r>
              <a:rPr lang="en-US" dirty="0"/>
              <a:t>It supports functional and structured programming methods as well as OOP.</a:t>
            </a:r>
          </a:p>
          <a:p>
            <a:r>
              <a:rPr lang="en-US" dirty="0"/>
              <a:t>It can be used as a scripting language or can be compiled to byte-code for building large applications.</a:t>
            </a:r>
          </a:p>
          <a:p>
            <a:r>
              <a:rPr lang="en-US" dirty="0"/>
              <a:t>It provides very high-level dynamic data types and supports dynamic type checking.</a:t>
            </a:r>
          </a:p>
          <a:p>
            <a:r>
              <a:rPr lang="en-US" dirty="0"/>
              <a:t>IT supports automatic garbage collection.</a:t>
            </a:r>
          </a:p>
          <a:p>
            <a:r>
              <a:rPr lang="en-US" dirty="0"/>
              <a:t>It can be easily integrated with C, C</a:t>
            </a:r>
            <a:r>
              <a:rPr lang="en-US" dirty="0" smtClean="0"/>
              <a:t>++ and </a:t>
            </a:r>
            <a:r>
              <a:rPr lang="en-US" dirty="0"/>
              <a:t>Java.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0058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Getting Python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dirty="0"/>
              <a:t>The most up-to-date and current source code, binaries, documentation, news, etc., is available on the official website of Python </a:t>
            </a:r>
            <a:r>
              <a:rPr lang="en-US" dirty="0">
                <a:hlinkClick r:id="rId2"/>
              </a:rPr>
              <a:t>https://www.python.org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download Python documentation from </a:t>
            </a:r>
            <a:r>
              <a:rPr lang="en-US" dirty="0">
                <a:hlinkClick r:id="rId3"/>
              </a:rPr>
              <a:t>https://www.python.org/doc/</a:t>
            </a:r>
            <a:r>
              <a:rPr lang="en-US" dirty="0"/>
              <a:t>. The documentation is available in HTML, </a:t>
            </a:r>
            <a:r>
              <a:rPr lang="en-US" dirty="0" smtClean="0"/>
              <a:t>PDF</a:t>
            </a:r>
            <a:r>
              <a:rPr lang="en-US" dirty="0"/>
              <a:t> </a:t>
            </a:r>
            <a:r>
              <a:rPr lang="en-US" dirty="0" smtClean="0"/>
              <a:t>format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120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smtClean="0"/>
              <a:t>Installing Anaconda (Python Distribution)</a:t>
            </a:r>
            <a:endParaRPr lang="en-US" sz="3600" b="1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b="1" dirty="0"/>
              <a:t>Anaconda</a:t>
            </a:r>
            <a:r>
              <a:rPr lang="en-US" dirty="0"/>
              <a:t> is a </a:t>
            </a:r>
            <a:r>
              <a:rPr lang="en-US" dirty="0" smtClean="0"/>
              <a:t>python distribution for </a:t>
            </a:r>
            <a:r>
              <a:rPr lang="en-US" dirty="0"/>
              <a:t>large-scale data processing, predictive analytics, and scientific </a:t>
            </a:r>
            <a:r>
              <a:rPr lang="en-US" dirty="0" smtClean="0"/>
              <a:t>computing.</a:t>
            </a:r>
          </a:p>
          <a:p>
            <a:r>
              <a:rPr lang="en-US" dirty="0" smtClean="0"/>
              <a:t>It can be downloaded from the website </a:t>
            </a:r>
            <a:r>
              <a:rPr lang="en-US" dirty="0" err="1" smtClean="0"/>
              <a:t>url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https://repo.continuum.io/archive/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362565"/>
            <a:ext cx="4200525" cy="20097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39313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smtClean="0"/>
              <a:t>Checking Python &amp; Anaconda Install </a:t>
            </a:r>
            <a:endParaRPr lang="en-US" sz="3600" b="1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b="1" dirty="0" smtClean="0"/>
              <a:t>Using </a:t>
            </a:r>
            <a:r>
              <a:rPr lang="en-US" b="1" dirty="0" smtClean="0">
                <a:solidFill>
                  <a:srgbClr val="FF0000"/>
                </a:solidFill>
              </a:rPr>
              <a:t>python - -version </a:t>
            </a:r>
            <a:r>
              <a:rPr lang="en-US" b="1" dirty="0" smtClean="0"/>
              <a:t>command in terminal to check version of python and Anaconda install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9" y="2433513"/>
            <a:ext cx="9012927" cy="419588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6440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smtClean="0"/>
              <a:t>Graphical IDE for Python Professional Developers</a:t>
            </a:r>
            <a:endParaRPr lang="en-US" sz="3600" b="1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PyCharm</a:t>
            </a:r>
            <a:r>
              <a:rPr lang="en-US" b="1" dirty="0" smtClean="0"/>
              <a:t> IDE by </a:t>
            </a:r>
            <a:r>
              <a:rPr lang="en-US" b="1" dirty="0" err="1" smtClean="0"/>
              <a:t>JetBrains</a:t>
            </a:r>
            <a:endParaRPr lang="en-US" b="1" dirty="0" smtClean="0"/>
          </a:p>
          <a:p>
            <a:r>
              <a:rPr lang="en-US" b="1" dirty="0" err="1" smtClean="0"/>
              <a:t>PyCharm</a:t>
            </a:r>
            <a:r>
              <a:rPr lang="en-US" dirty="0" smtClean="0"/>
              <a:t> </a:t>
            </a:r>
            <a:r>
              <a:rPr lang="en-US" dirty="0"/>
              <a:t>is an Integrated Development Environment (IDE) used in computer programming, specifically for the Python language.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developed by the Czech company </a:t>
            </a:r>
            <a:r>
              <a:rPr lang="en-US" dirty="0" err="1"/>
              <a:t>JetBrains</a:t>
            </a:r>
            <a:r>
              <a:rPr lang="en-US" dirty="0" smtClean="0"/>
              <a:t>. </a:t>
            </a:r>
            <a:r>
              <a:rPr lang="en-US" dirty="0"/>
              <a:t>It provides code analysis, a graphical debugger, an integrated unit tester, </a:t>
            </a:r>
            <a:r>
              <a:rPr lang="en-US" dirty="0" smtClean="0"/>
              <a:t>and </a:t>
            </a:r>
            <a:r>
              <a:rPr lang="en-US" dirty="0"/>
              <a:t>supports web development with Django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can be download from the official </a:t>
            </a:r>
            <a:r>
              <a:rPr lang="en-US" dirty="0" err="1" smtClean="0"/>
              <a:t>JetBrains</a:t>
            </a:r>
            <a:r>
              <a:rPr lang="en-US" dirty="0" smtClean="0"/>
              <a:t> website.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https://www.jetbrains.com/pycharm/download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/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3749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err="1" smtClean="0"/>
              <a:t>PyCharm</a:t>
            </a:r>
            <a:r>
              <a:rPr lang="en-US" sz="3600" b="1" dirty="0" smtClean="0"/>
              <a:t> IDE Environment</a:t>
            </a:r>
            <a:endParaRPr lang="en-US" sz="3600" b="1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600"/>
            <a:ext cx="8458199" cy="5105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0737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First Python Program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dirty="0" smtClean="0"/>
              <a:t>Make a first Hello World python program in </a:t>
            </a:r>
            <a:r>
              <a:rPr lang="en-US" dirty="0" err="1" smtClean="0"/>
              <a:t>PyCharm</a:t>
            </a:r>
            <a:endParaRPr lang="en-US" dirty="0" smtClean="0"/>
          </a:p>
          <a:p>
            <a:r>
              <a:rPr lang="en-US" dirty="0" smtClean="0"/>
              <a:t>Create a </a:t>
            </a:r>
            <a:r>
              <a:rPr lang="en-US" b="1" dirty="0" smtClean="0"/>
              <a:t>helloWorld.py</a:t>
            </a:r>
            <a:r>
              <a:rPr lang="en-US" dirty="0" smtClean="0"/>
              <a:t> python file </a:t>
            </a:r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Basic Syntax</a:t>
            </a:r>
          </a:p>
          <a:p>
            <a:pPr marL="0" indent="0">
              <a:buNone/>
            </a:pPr>
            <a:r>
              <a:rPr lang="en-US" dirty="0" smtClean="0"/>
              <a:t>print</a:t>
            </a:r>
            <a:r>
              <a:rPr lang="en-US" dirty="0"/>
              <a:t>("Hello </a:t>
            </a:r>
            <a:r>
              <a:rPr lang="en-US" dirty="0" smtClean="0"/>
              <a:t>Python world!!!") </a:t>
            </a:r>
            <a:r>
              <a:rPr lang="en-US" b="1" dirty="0" smtClean="0"/>
              <a:t>OR</a:t>
            </a:r>
          </a:p>
          <a:p>
            <a:pPr marL="0" indent="0">
              <a:buNone/>
            </a:pPr>
            <a:r>
              <a:rPr lang="en-US" dirty="0" smtClean="0"/>
              <a:t>print(‘Hello </a:t>
            </a:r>
            <a:r>
              <a:rPr lang="en-US" dirty="0"/>
              <a:t>Python world</a:t>
            </a:r>
            <a:r>
              <a:rPr lang="en-US" dirty="0" smtClean="0"/>
              <a:t>!!!’)</a:t>
            </a:r>
            <a:endParaRPr lang="en-US" b="1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Output</a:t>
            </a:r>
            <a:endParaRPr lang="en-US" b="1" u="sng" dirty="0"/>
          </a:p>
          <a:p>
            <a:pPr marL="0" indent="0">
              <a:buNone/>
            </a:pPr>
            <a:r>
              <a:rPr lang="en-US" dirty="0" smtClean="0"/>
              <a:t>Hello Python world!!</a:t>
            </a:r>
          </a:p>
          <a:p>
            <a:pPr marL="0" indent="0">
              <a:buNone/>
            </a:pPr>
            <a:r>
              <a:rPr lang="en-US" sz="2400" dirty="0" smtClean="0"/>
              <a:t>(NOTE: Python also accept single-quotation in print() statement)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6250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First Python Program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14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95400"/>
            <a:ext cx="8878888" cy="5334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9738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/>
              <a:t>Running Python in a Terminal Session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15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86164"/>
            <a:ext cx="9067800" cy="520007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6924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smtClean="0"/>
              <a:t>Multiple Print() statement in python</a:t>
            </a:r>
            <a:endParaRPr lang="en-US" sz="3600" b="1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print</a:t>
            </a:r>
            <a:r>
              <a:rPr lang="en-US" dirty="0"/>
              <a:t>("</a:t>
            </a:r>
            <a:r>
              <a:rPr lang="en-US" dirty="0" smtClean="0"/>
              <a:t>Hello ”)</a:t>
            </a:r>
          </a:p>
          <a:p>
            <a:pPr marL="0" indent="0">
              <a:buNone/>
            </a:pPr>
            <a:r>
              <a:rPr lang="en-US" dirty="0"/>
              <a:t>print</a:t>
            </a:r>
            <a:r>
              <a:rPr lang="en-US" dirty="0" smtClean="0"/>
              <a:t>(“Python ”)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</a:t>
            </a:r>
            <a:r>
              <a:rPr lang="en-US" dirty="0" smtClean="0"/>
              <a:t>(“World”)</a:t>
            </a:r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dirty="0" smtClean="0"/>
              <a:t>rint(“</a:t>
            </a:r>
            <a:r>
              <a:rPr lang="en-US" dirty="0" err="1" smtClean="0"/>
              <a:t>Iqra</a:t>
            </a:r>
            <a:r>
              <a:rPr lang="en-US" dirty="0" smtClean="0"/>
              <a:t>”+”University”)</a:t>
            </a:r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Output</a:t>
            </a:r>
            <a:endParaRPr lang="en-US" b="1" u="sng" dirty="0"/>
          </a:p>
          <a:p>
            <a:pPr marL="0" indent="0">
              <a:buNone/>
            </a:pPr>
            <a:r>
              <a:rPr lang="en-US" dirty="0" smtClean="0"/>
              <a:t>Hello </a:t>
            </a:r>
          </a:p>
          <a:p>
            <a:pPr marL="0" indent="0">
              <a:buNone/>
            </a:pPr>
            <a:r>
              <a:rPr lang="en-US" dirty="0" smtClean="0"/>
              <a:t>Python </a:t>
            </a:r>
          </a:p>
          <a:p>
            <a:pPr marL="0" indent="0">
              <a:buNone/>
            </a:pPr>
            <a:r>
              <a:rPr lang="en-US" dirty="0" smtClean="0"/>
              <a:t>World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IqraUniversity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3184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smtClean="0"/>
              <a:t>Using end= option in print() statement</a:t>
            </a:r>
            <a:endParaRPr lang="en-US" sz="3600" b="1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print</a:t>
            </a:r>
            <a:r>
              <a:rPr lang="en-US" dirty="0"/>
              <a:t>("</a:t>
            </a:r>
            <a:r>
              <a:rPr lang="en-US" dirty="0" err="1" smtClean="0"/>
              <a:t>Hello”,end</a:t>
            </a:r>
            <a:r>
              <a:rPr lang="en-US" dirty="0" smtClean="0"/>
              <a:t>=“”)</a:t>
            </a:r>
          </a:p>
          <a:p>
            <a:pPr marL="0" indent="0">
              <a:buNone/>
            </a:pPr>
            <a:r>
              <a:rPr lang="en-US" dirty="0"/>
              <a:t>print</a:t>
            </a:r>
            <a:r>
              <a:rPr lang="en-US" dirty="0" smtClean="0"/>
              <a:t>(“Python”)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</a:t>
            </a:r>
            <a:r>
              <a:rPr lang="en-US" dirty="0" smtClean="0"/>
              <a:t>(“World”)</a:t>
            </a:r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Output</a:t>
            </a:r>
            <a:endParaRPr lang="en-US" b="1" u="sng" dirty="0"/>
          </a:p>
          <a:p>
            <a:pPr marL="0" indent="0">
              <a:buNone/>
            </a:pPr>
            <a:r>
              <a:rPr lang="en-US" dirty="0" err="1" smtClean="0"/>
              <a:t>HelloPython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World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276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smtClean="0"/>
              <a:t>Comments in Python</a:t>
            </a:r>
            <a:endParaRPr lang="en-US" sz="3600" b="1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dirty="0" smtClean="0"/>
              <a:t>Comments are use for documentation and better understand of source in native language</a:t>
            </a:r>
          </a:p>
          <a:p>
            <a:pPr marL="0" indent="0">
              <a:buNone/>
            </a:pPr>
            <a:r>
              <a:rPr lang="en-US" b="1" u="sng" dirty="0" smtClean="0"/>
              <a:t>Single Line Comments in Python</a:t>
            </a:r>
          </a:p>
          <a:p>
            <a:pPr marL="0" indent="0">
              <a:buNone/>
            </a:pPr>
            <a:r>
              <a:rPr lang="en-US" dirty="0" smtClean="0"/>
              <a:t># Prints Hello Python World on to screen</a:t>
            </a:r>
          </a:p>
          <a:p>
            <a:pPr marL="0" indent="0">
              <a:buNone/>
            </a:pPr>
            <a:r>
              <a:rPr lang="en-US" dirty="0" smtClean="0"/>
              <a:t>print</a:t>
            </a:r>
            <a:r>
              <a:rPr lang="en-US" dirty="0"/>
              <a:t>("Hello Python world!!!") </a:t>
            </a: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Multi-Line </a:t>
            </a:r>
            <a:r>
              <a:rPr lang="en-US" b="1" u="sng" dirty="0"/>
              <a:t>Comments in </a:t>
            </a:r>
            <a:r>
              <a:rPr lang="en-US" b="1" u="sng" dirty="0" smtClean="0"/>
              <a:t>Python</a:t>
            </a:r>
          </a:p>
          <a:p>
            <a:pPr marL="0" indent="0">
              <a:buNone/>
            </a:pPr>
            <a:r>
              <a:rPr lang="en-US" dirty="0" smtClean="0"/>
              <a:t>Multi-Line comment don’t actually exist in python</a:t>
            </a:r>
          </a:p>
          <a:p>
            <a:pPr marL="0" indent="0">
              <a:buNone/>
            </a:pPr>
            <a:r>
              <a:rPr lang="en-US" dirty="0"/>
              <a:t>You can comment multiple lines as follows −</a:t>
            </a:r>
          </a:p>
          <a:p>
            <a:pPr marL="0" indent="0">
              <a:buNone/>
            </a:pPr>
            <a:r>
              <a:rPr lang="en-US" dirty="0" smtClean="0"/>
              <a:t># First comment</a:t>
            </a:r>
          </a:p>
          <a:p>
            <a:pPr marL="0" indent="0">
              <a:buNone/>
            </a:pPr>
            <a:r>
              <a:rPr lang="en-US" dirty="0" smtClean="0"/>
              <a:t># Second comment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0780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50962" y="228600"/>
            <a:ext cx="7793038" cy="838200"/>
          </a:xfrm>
        </p:spPr>
        <p:txBody>
          <a:bodyPr/>
          <a:lstStyle/>
          <a:p>
            <a:r>
              <a:rPr lang="en-US" sz="3600" b="1" dirty="0" smtClean="0"/>
              <a:t>Escape Sequences in Python</a:t>
            </a:r>
            <a:endParaRPr lang="en-US" sz="3600" b="1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334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Escape Sequences are use for formatting text in print() statement.</a:t>
            </a:r>
          </a:p>
          <a:p>
            <a:pPr marL="0" indent="0">
              <a:buNone/>
            </a:pPr>
            <a:r>
              <a:rPr lang="en-US" dirty="0" smtClean="0"/>
              <a:t>Type of escape sequences are \n,\t,\b,\’,\”</a:t>
            </a:r>
          </a:p>
          <a:p>
            <a:pPr marL="0" indent="0">
              <a:buNone/>
            </a:pPr>
            <a:r>
              <a:rPr lang="en-US" dirty="0" smtClean="0"/>
              <a:t>print(“Hello\</a:t>
            </a:r>
            <a:r>
              <a:rPr lang="en-US" dirty="0" err="1" smtClean="0"/>
              <a:t>nWorld</a:t>
            </a:r>
            <a:r>
              <a:rPr lang="en-US" dirty="0" smtClean="0"/>
              <a:t>”) 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</a:p>
          <a:p>
            <a:pPr marL="800100" lvl="2" indent="0">
              <a:buNone/>
            </a:pPr>
            <a:r>
              <a:rPr lang="en-US" dirty="0" smtClean="0"/>
              <a:t>Hello</a:t>
            </a:r>
          </a:p>
          <a:p>
            <a:pPr marL="800100" lvl="2" indent="0">
              <a:buNone/>
            </a:pPr>
            <a:r>
              <a:rPr lang="en-US" dirty="0" smtClean="0"/>
              <a:t>World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print(“</a:t>
            </a:r>
            <a:r>
              <a:rPr lang="en-US" dirty="0" smtClean="0"/>
              <a:t>Hello\</a:t>
            </a:r>
            <a:r>
              <a:rPr lang="en-US" dirty="0" err="1" smtClean="0"/>
              <a:t>tWorld</a:t>
            </a:r>
            <a:r>
              <a:rPr lang="en-US" dirty="0" smtClean="0"/>
              <a:t>”) &gt;&gt; Hello		World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print(“</a:t>
            </a:r>
            <a:r>
              <a:rPr lang="en-US" dirty="0" smtClean="0"/>
              <a:t>Hello\</a:t>
            </a:r>
            <a:r>
              <a:rPr lang="en-US" dirty="0" err="1" smtClean="0"/>
              <a:t>bWorld</a:t>
            </a:r>
            <a:r>
              <a:rPr lang="en-US" dirty="0"/>
              <a:t>”) &gt;&gt; </a:t>
            </a:r>
            <a:r>
              <a:rPr lang="en-US" dirty="0" err="1" smtClean="0"/>
              <a:t>HellWorld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print(“</a:t>
            </a:r>
            <a:r>
              <a:rPr lang="en-US" dirty="0" smtClean="0"/>
              <a:t>Hello \’World\’ ”) </a:t>
            </a:r>
            <a:r>
              <a:rPr lang="en-US" dirty="0"/>
              <a:t>&gt;&gt; </a:t>
            </a:r>
            <a:r>
              <a:rPr lang="en-US" dirty="0" smtClean="0"/>
              <a:t>Hello ‘World’</a:t>
            </a:r>
          </a:p>
          <a:p>
            <a:pPr marL="0" indent="0">
              <a:buNone/>
            </a:pPr>
            <a:r>
              <a:rPr lang="en-US" dirty="0"/>
              <a:t>print(“</a:t>
            </a:r>
            <a:r>
              <a:rPr lang="en-US" dirty="0" smtClean="0"/>
              <a:t>Hello \”World\” “) </a:t>
            </a:r>
            <a:r>
              <a:rPr lang="en-US" dirty="0"/>
              <a:t>&gt;&gt; </a:t>
            </a:r>
            <a:r>
              <a:rPr lang="en-US" dirty="0" smtClean="0"/>
              <a:t>Hello “World”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(NOTE: </a:t>
            </a:r>
            <a:r>
              <a:rPr lang="en-US" sz="2400" dirty="0" smtClean="0"/>
              <a:t>These escape sequences can be use in end= option in print())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195EA2-3473-4185-AAD9-0FA2E0CD2902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3273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ASPOLLED" val="21DA32E7339E4201ADD21E4FFF7577A6"/>
  <p:tag name="TPVERSION" val="5"/>
  <p:tag name="TPFULLVERSION" val="5.2.0.3121"/>
  <p:tag name="PPTVERSION" val="14"/>
  <p:tag name="TPOS" val="2"/>
</p:tagLst>
</file>

<file path=ppt/theme/theme1.xml><?xml version="1.0" encoding="utf-8"?>
<a:theme xmlns:a="http://schemas.openxmlformats.org/drawingml/2006/main" name="prolog">
  <a:themeElements>
    <a:clrScheme name="">
      <a:dk1>
        <a:srgbClr val="000000"/>
      </a:dk1>
      <a:lt1>
        <a:srgbClr val="FFFFFF"/>
      </a:lt1>
      <a:dk2>
        <a:srgbClr val="FF0000"/>
      </a:dk2>
      <a:lt2>
        <a:srgbClr val="804000"/>
      </a:lt2>
      <a:accent1>
        <a:srgbClr val="007F00"/>
      </a:accent1>
      <a:accent2>
        <a:srgbClr val="3300FF"/>
      </a:accent2>
      <a:accent3>
        <a:srgbClr val="FFFFFF"/>
      </a:accent3>
      <a:accent4>
        <a:srgbClr val="000000"/>
      </a:accent4>
      <a:accent5>
        <a:srgbClr val="AAC0AA"/>
      </a:accent5>
      <a:accent6>
        <a:srgbClr val="2D00E7"/>
      </a:accent6>
      <a:hlink>
        <a:srgbClr val="BF00FF"/>
      </a:hlink>
      <a:folHlink>
        <a:srgbClr val="0073D9"/>
      </a:folHlink>
    </a:clrScheme>
    <a:fontScheme name="prolog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prolog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log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log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8">
        <a:dk1>
          <a:srgbClr val="000000"/>
        </a:dk1>
        <a:lt1>
          <a:srgbClr val="FFFFFF"/>
        </a:lt1>
        <a:dk2>
          <a:srgbClr val="FF0000"/>
        </a:dk2>
        <a:lt2>
          <a:srgbClr val="FF9900"/>
        </a:lt2>
        <a:accent1>
          <a:srgbClr val="0099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5C2D"/>
        </a:accent6>
        <a:hlink>
          <a:srgbClr val="CC00FF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Hunk:Applications:Microsoft Office 2004:Templates:My Templates:prolog.pot</Template>
  <TotalTime>3372</TotalTime>
  <Words>846</Words>
  <Application>Microsoft Office PowerPoint</Application>
  <PresentationFormat>On-screen Show (4:3)</PresentationFormat>
  <Paragraphs>165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prolog</vt:lpstr>
      <vt:lpstr>Internet Of Things – Python Programming</vt:lpstr>
      <vt:lpstr>Introduction to Python Programming</vt:lpstr>
      <vt:lpstr>History of Python</vt:lpstr>
      <vt:lpstr>Python Features</vt:lpstr>
      <vt:lpstr>Python Features</vt:lpstr>
      <vt:lpstr>Python Features</vt:lpstr>
      <vt:lpstr>Python Features</vt:lpstr>
      <vt:lpstr>Getting Python</vt:lpstr>
      <vt:lpstr>Installing Anaconda (Python Distribution)</vt:lpstr>
      <vt:lpstr>Checking Python &amp; Anaconda Install </vt:lpstr>
      <vt:lpstr>Graphical IDE for Python Professional Developers</vt:lpstr>
      <vt:lpstr>PyCharm IDE Environment</vt:lpstr>
      <vt:lpstr>First Python Program</vt:lpstr>
      <vt:lpstr>First Python Program</vt:lpstr>
      <vt:lpstr>Running Python in a Terminal Session</vt:lpstr>
      <vt:lpstr>Multiple Print() statement in python</vt:lpstr>
      <vt:lpstr>Using end= option in print() statement</vt:lpstr>
      <vt:lpstr>Comments in Python</vt:lpstr>
      <vt:lpstr>Escape Sequences in Python</vt:lpstr>
    </vt:vector>
  </TitlesOfParts>
  <Company>House of Chaos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</dc:title>
  <dc:creator>Dave Matuszek</dc:creator>
  <cp:lastModifiedBy>a.mian</cp:lastModifiedBy>
  <cp:revision>184</cp:revision>
  <dcterms:created xsi:type="dcterms:W3CDTF">2005-10-18T13:18:42Z</dcterms:created>
  <dcterms:modified xsi:type="dcterms:W3CDTF">2022-04-04T07:46:16Z</dcterms:modified>
</cp:coreProperties>
</file>