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3" r:id="rId1"/>
  </p:sldMasterIdLst>
  <p:notesMasterIdLst>
    <p:notesMasterId r:id="rId35"/>
  </p:notesMasterIdLst>
  <p:handoutMasterIdLst>
    <p:handoutMasterId r:id="rId36"/>
  </p:handoutMasterIdLst>
  <p:sldIdLst>
    <p:sldId id="489" r:id="rId2"/>
    <p:sldId id="487" r:id="rId3"/>
    <p:sldId id="422" r:id="rId4"/>
    <p:sldId id="423" r:id="rId5"/>
    <p:sldId id="424" r:id="rId6"/>
    <p:sldId id="425" r:id="rId7"/>
    <p:sldId id="441" r:id="rId8"/>
    <p:sldId id="440" r:id="rId9"/>
    <p:sldId id="439" r:id="rId10"/>
    <p:sldId id="442" r:id="rId11"/>
    <p:sldId id="443" r:id="rId12"/>
    <p:sldId id="444" r:id="rId13"/>
    <p:sldId id="484" r:id="rId14"/>
    <p:sldId id="445" r:id="rId15"/>
    <p:sldId id="446" r:id="rId16"/>
    <p:sldId id="488" r:id="rId17"/>
    <p:sldId id="447" r:id="rId18"/>
    <p:sldId id="448" r:id="rId19"/>
    <p:sldId id="449" r:id="rId20"/>
    <p:sldId id="450" r:id="rId21"/>
    <p:sldId id="451" r:id="rId22"/>
    <p:sldId id="452" r:id="rId23"/>
    <p:sldId id="453" r:id="rId24"/>
    <p:sldId id="454" r:id="rId25"/>
    <p:sldId id="455" r:id="rId26"/>
    <p:sldId id="456" r:id="rId27"/>
    <p:sldId id="457" r:id="rId28"/>
    <p:sldId id="480" r:id="rId29"/>
    <p:sldId id="479" r:id="rId30"/>
    <p:sldId id="478" r:id="rId31"/>
    <p:sldId id="477" r:id="rId32"/>
    <p:sldId id="476" r:id="rId33"/>
    <p:sldId id="485" r:id="rId34"/>
  </p:sldIdLst>
  <p:sldSz cx="9144000" cy="6858000" type="screen4x3"/>
  <p:notesSz cx="6858000" cy="9144000"/>
  <p:custDataLst>
    <p:tags r:id="rId3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00FF"/>
    <a:srgbClr val="CCCC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544" autoAdjust="0"/>
    <p:restoredTop sz="94660"/>
  </p:normalViewPr>
  <p:slideViewPr>
    <p:cSldViewPr>
      <p:cViewPr varScale="1">
        <p:scale>
          <a:sx n="68" d="100"/>
          <a:sy n="68" d="100"/>
        </p:scale>
        <p:origin x="-160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A53238-CAC0-46D4-AB73-5CE29A15898D}" type="datetimeFigureOut">
              <a:rPr lang="en-US"/>
              <a:pPr/>
              <a:t>5/23/2022</a:t>
            </a:fld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BB4236-354B-482F-A28A-0064240E2C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97838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77D1109-FCA5-4717-8E3B-E8764E699A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19096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563FBA-52BF-4C79-8B85-9C0AFCC8B726}" type="slidenum">
              <a:rPr lang="en-US"/>
              <a:pPr/>
              <a:t>1</a:t>
            </a:fld>
            <a:endParaRPr 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pitchFamily="123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8666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1109-FCA5-4717-8E3B-E8764E699A1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12372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1109-FCA5-4717-8E3B-E8764E699A1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40057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530225" y="2663825"/>
            <a:ext cx="457200" cy="398463"/>
          </a:xfrm>
          <a:prstGeom prst="rect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solidFill>
                <a:schemeClr val="tx2"/>
              </a:solidFill>
              <a:latin typeface="Arial" charset="0"/>
              <a:ea typeface="+mn-ea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ltGray">
          <a:xfrm>
            <a:off x="538163" y="2982913"/>
            <a:ext cx="422275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ltGray">
          <a:xfrm>
            <a:off x="835025" y="2909888"/>
            <a:ext cx="368300" cy="474662"/>
          </a:xfrm>
          <a:prstGeom prst="rect">
            <a:avLst/>
          </a:prstGeom>
          <a:gradFill rotWithShape="0">
            <a:gsLst>
              <a:gs pos="0">
                <a:srgbClr val="00FF00"/>
              </a:gs>
              <a:gs pos="100000">
                <a:srgbClr val="0076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ltGray">
          <a:xfrm>
            <a:off x="225425" y="2833688"/>
            <a:ext cx="457200" cy="422275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latin typeface="Arial" charset="0"/>
              <a:ea typeface="+mn-ea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gray">
          <a:xfrm>
            <a:off x="758825" y="2452688"/>
            <a:ext cx="31750" cy="1052512"/>
          </a:xfrm>
          <a:prstGeom prst="rect">
            <a:avLst/>
          </a:prstGeom>
          <a:solidFill>
            <a:srgbClr val="9933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gray">
          <a:xfrm>
            <a:off x="457200" y="3290888"/>
            <a:ext cx="8683625" cy="46037"/>
          </a:xfrm>
          <a:prstGeom prst="rect">
            <a:avLst/>
          </a:prstGeom>
          <a:gradFill rotWithShape="0">
            <a:gsLst>
              <a:gs pos="0">
                <a:srgbClr val="591800"/>
              </a:gs>
              <a:gs pos="100000">
                <a:srgbClr val="C1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solidFill>
                <a:srgbClr val="993300"/>
              </a:solidFill>
              <a:latin typeface="Arial" pitchFamily="34" charset="0"/>
            </a:endParaRPr>
          </a:p>
        </p:txBody>
      </p:sp>
      <p:pic>
        <p:nvPicPr>
          <p:cNvPr id="10" name="Picture 1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5334000"/>
            <a:ext cx="1371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2209800"/>
            <a:ext cx="7620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620000" cy="762000"/>
          </a:xfrm>
        </p:spPr>
        <p:txBody>
          <a:bodyPr/>
          <a:lstStyle>
            <a:lvl1pPr marL="0" indent="0" algn="ctr">
              <a:buFont typeface="Wingdings" charset="2"/>
              <a:buNone/>
              <a:defRPr>
                <a:solidFill>
                  <a:srgbClr val="99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077200" y="6553200"/>
            <a:ext cx="1066800" cy="304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fld id="{3D54EF2D-FD43-47DD-865A-97FFCFDBAB49}" type="datetime5">
              <a:rPr lang="en-US"/>
              <a:pPr/>
              <a:t>23-May-22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3C1B03-0993-4B56-8AC7-1F376C495D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C8463E-3D75-4B91-ABBC-00F83E8226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21005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9650" y="1371600"/>
            <a:ext cx="4211638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23954D-E184-421C-AF54-C602140A88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7E6A9F-48F3-46F0-AF45-2202115821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5C8E12-A6C5-4284-8C99-3456C36EE9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5CDADB-0D4D-4D56-B67F-19547B2A56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2BE86A-CFED-4459-8512-DAA44D6292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3068AD-FE32-43F9-B211-00E571E50DA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168BB1-589C-4BE2-8573-8C9096C752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228600"/>
            <a:ext cx="2143125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278563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FD209B-AB01-46CD-A1E2-C238354EEE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" preserve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6705600" cy="1752600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362200"/>
            <a:ext cx="4267200" cy="4038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522CA1-B531-4BC9-8251-6BA15033E8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228600"/>
            <a:ext cx="7793038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574088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D9082DD3-4162-47C3-A307-C22F7F02D9E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530225" y="363538"/>
            <a:ext cx="457200" cy="398462"/>
          </a:xfrm>
          <a:prstGeom prst="rect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solidFill>
                <a:schemeClr val="tx2"/>
              </a:solidFill>
              <a:latin typeface="Arial" charset="0"/>
              <a:ea typeface="+mn-ea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38163" y="682625"/>
            <a:ext cx="422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835025" y="609600"/>
            <a:ext cx="368300" cy="474663"/>
          </a:xfrm>
          <a:prstGeom prst="rect">
            <a:avLst/>
          </a:prstGeom>
          <a:gradFill rotWithShape="0">
            <a:gsLst>
              <a:gs pos="0">
                <a:srgbClr val="00FF00"/>
              </a:gs>
              <a:gs pos="100000">
                <a:srgbClr val="0076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ltGray">
          <a:xfrm>
            <a:off x="225425" y="533400"/>
            <a:ext cx="457200" cy="422275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latin typeface="Arial" charset="0"/>
              <a:ea typeface="+mn-ea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58825" y="152400"/>
            <a:ext cx="31750" cy="1052513"/>
          </a:xfrm>
          <a:prstGeom prst="rect">
            <a:avLst/>
          </a:prstGeom>
          <a:solidFill>
            <a:srgbClr val="9933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57200" y="990600"/>
            <a:ext cx="8683625" cy="46038"/>
          </a:xfrm>
          <a:prstGeom prst="rect">
            <a:avLst/>
          </a:prstGeom>
          <a:gradFill rotWithShape="0">
            <a:gsLst>
              <a:gs pos="0">
                <a:srgbClr val="471800"/>
              </a:gs>
              <a:gs pos="100000">
                <a:srgbClr val="99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solidFill>
                <a:srgbClr val="993300"/>
              </a:solidFill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 bldLvl="5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+mj-lt"/>
          <a:ea typeface="MS PGothic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methods/built-in/dict" TargetMode="External"/><Relationship Id="rId2" Type="http://schemas.openxmlformats.org/officeDocument/2006/relationships/hyperlink" Target="https://www.programiz.com/python-programming/methods/built-in/lis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Internet Of Things – Python Programming</a:t>
            </a:r>
          </a:p>
        </p:txBody>
      </p:sp>
      <p:sp>
        <p:nvSpPr>
          <p:cNvPr id="16386" name="Subtitle 1"/>
          <p:cNvSpPr>
            <a:spLocks noGrp="1"/>
          </p:cNvSpPr>
          <p:nvPr>
            <p:ph type="subTitle" idx="1"/>
          </p:nvPr>
        </p:nvSpPr>
        <p:spPr>
          <a:xfrm>
            <a:off x="838200" y="3505200"/>
            <a:ext cx="7620000" cy="6858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Lambda, HOF, Recursion, Modules in Python</a:t>
            </a:r>
            <a:endParaRPr lang="en-US" b="1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None/>
            </a:pP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886200" y="5257800"/>
            <a:ext cx="1524000" cy="137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609600"/>
            <a:ext cx="6019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 smtClean="0">
                <a:solidFill>
                  <a:schemeClr val="accent2">
                    <a:lumMod val="75000"/>
                  </a:schemeClr>
                </a:solidFill>
              </a:rPr>
              <a:t>KAMYAAB  JAWAN  PAKISTAN</a:t>
            </a:r>
            <a:endParaRPr lang="en-US" sz="4400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Anonymous Function – Lambda Functions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143000"/>
            <a:ext cx="8574088" cy="5715000"/>
          </a:xfrm>
        </p:spPr>
        <p:txBody>
          <a:bodyPr/>
          <a:lstStyle/>
          <a:p>
            <a:r>
              <a:rPr lang="en-US" sz="2400" dirty="0" smtClean="0"/>
              <a:t>Python supports the creation of anonymous functions (i.e. functions that are not bound to a name) at runtime, using a construct called "lambda". </a:t>
            </a:r>
          </a:p>
          <a:p>
            <a:pPr eaLnBrk="1" hangingPunct="1"/>
            <a:r>
              <a:rPr lang="en-US" sz="2400" dirty="0" smtClean="0"/>
              <a:t>Sometimes you need a simply arithmetic function</a:t>
            </a:r>
          </a:p>
          <a:p>
            <a:pPr eaLnBrk="1" hangingPunct="1"/>
            <a:r>
              <a:rPr lang="en-US" sz="2400" dirty="0" smtClean="0"/>
              <a:t>Its silly to write a method for it, but redundant not too</a:t>
            </a:r>
          </a:p>
          <a:p>
            <a:pPr eaLnBrk="1" hangingPunct="1"/>
            <a:r>
              <a:rPr lang="en-US" sz="2400" dirty="0" smtClean="0"/>
              <a:t>With lambda we can create quick simple functions</a:t>
            </a:r>
          </a:p>
          <a:p>
            <a:pPr eaLnBrk="1" hangingPunct="1"/>
            <a:r>
              <a:rPr lang="en-US" dirty="0" smtClean="0"/>
              <a:t>Facts</a:t>
            </a:r>
          </a:p>
          <a:p>
            <a:pPr lvl="1" eaLnBrk="1" hangingPunct="1"/>
            <a:r>
              <a:rPr lang="en-US" dirty="0" smtClean="0">
                <a:ea typeface="ヒラギノ角ゴ Pro W3" pitchFamily="-106" charset="-128"/>
              </a:rPr>
              <a:t>Lambda functions can only be comprised of a single expression</a:t>
            </a:r>
          </a:p>
          <a:p>
            <a:pPr lvl="1" eaLnBrk="1" hangingPunct="1"/>
            <a:r>
              <a:rPr lang="en-US" dirty="0" smtClean="0">
                <a:ea typeface="ヒラギノ角ゴ Pro W3" pitchFamily="-106" charset="-128"/>
              </a:rPr>
              <a:t>No loops, no calling other methods</a:t>
            </a:r>
          </a:p>
          <a:p>
            <a:pPr lvl="1" eaLnBrk="1" hangingPunct="1"/>
            <a:r>
              <a:rPr lang="en-US" dirty="0" smtClean="0">
                <a:ea typeface="ヒラギノ角ゴ Pro W3" pitchFamily="-106" charset="-128"/>
              </a:rPr>
              <a:t>Lambda functions can take any number of variables</a:t>
            </a:r>
          </a:p>
          <a:p>
            <a:r>
              <a:rPr lang="en-US" dirty="0" smtClean="0">
                <a:latin typeface="Tahoma" pitchFamily="-106" charset="0"/>
              </a:rPr>
              <a:t>Syntax:</a:t>
            </a:r>
          </a:p>
          <a:p>
            <a:r>
              <a:rPr lang="en-US" dirty="0" smtClean="0"/>
              <a:t>	</a:t>
            </a:r>
            <a:r>
              <a:rPr lang="en-US" dirty="0" smtClean="0">
                <a:latin typeface="Courier New" pitchFamily="-106" charset="0"/>
                <a:cs typeface="Courier New" pitchFamily="-106" charset="0"/>
              </a:rPr>
              <a:t>lambda </a:t>
            </a:r>
            <a:r>
              <a:rPr lang="en-US" b="1" dirty="0" smtClean="0">
                <a:latin typeface="Courier New" pitchFamily="-106" charset="0"/>
                <a:cs typeface="Courier New" pitchFamily="-106" charset="0"/>
              </a:rPr>
              <a:t>param1</a:t>
            </a:r>
            <a:r>
              <a:rPr lang="en-US" dirty="0" smtClean="0">
                <a:latin typeface="Courier New" pitchFamily="-106" charset="0"/>
                <a:cs typeface="Courier New" pitchFamily="-106" charset="0"/>
              </a:rPr>
              <a:t>,…,</a:t>
            </a:r>
            <a:r>
              <a:rPr lang="en-US" b="1" dirty="0" err="1" smtClean="0">
                <a:latin typeface="Courier New" pitchFamily="-106" charset="0"/>
                <a:cs typeface="Courier New" pitchFamily="-106" charset="0"/>
              </a:rPr>
              <a:t>paramn</a:t>
            </a:r>
            <a:r>
              <a:rPr lang="en-US" b="1" dirty="0" smtClean="0">
                <a:latin typeface="Courier New" pitchFamily="-106" charset="0"/>
                <a:cs typeface="Courier New" pitchFamily="-106" charset="0"/>
              </a:rPr>
              <a:t> </a:t>
            </a:r>
            <a:r>
              <a:rPr lang="en-US" dirty="0" smtClean="0">
                <a:latin typeface="Courier New" pitchFamily="-106" charset="0"/>
                <a:cs typeface="Courier New" pitchFamily="-106" charset="0"/>
              </a:rPr>
              <a:t>: </a:t>
            </a:r>
            <a:r>
              <a:rPr lang="en-US" b="1" dirty="0" smtClean="0">
                <a:latin typeface="Courier New" pitchFamily="-106" charset="0"/>
                <a:cs typeface="Courier New" pitchFamily="-106" charset="0"/>
              </a:rPr>
              <a:t>expression</a:t>
            </a:r>
          </a:p>
          <a:p>
            <a:pPr eaLnBrk="1" hangingPunct="1"/>
            <a:endParaRPr lang="en-US" dirty="0" smtClean="0"/>
          </a:p>
          <a:p>
            <a:pPr lvl="2" eaLnBrk="1" hangingPunct="1">
              <a:buFontTx/>
              <a:buNone/>
            </a:pPr>
            <a:endParaRPr lang="en-US" dirty="0" smtClean="0">
              <a:ea typeface="ヒラギノ角ゴ Pro W3" pitchFamily="-106" charset="-128"/>
            </a:endParaRP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Anonymous Function – Lambda Functions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219200"/>
            <a:ext cx="8574088" cy="5486400"/>
          </a:xfrm>
        </p:spPr>
        <p:txBody>
          <a:bodyPr/>
          <a:lstStyle/>
          <a:p>
            <a:r>
              <a:rPr lang="en-US" dirty="0" smtClean="0"/>
              <a:t>A normal function in python:</a:t>
            </a:r>
          </a:p>
          <a:p>
            <a:r>
              <a:rPr lang="en-US" dirty="0" smtClean="0"/>
              <a:t>def square(x):							return x**2 							 sq = square(4) 						 print(sq)</a:t>
            </a:r>
          </a:p>
          <a:p>
            <a:r>
              <a:rPr lang="en-US" dirty="0" smtClean="0"/>
              <a:t>16</a:t>
            </a:r>
          </a:p>
          <a:p>
            <a:r>
              <a:rPr lang="en-US" dirty="0" smtClean="0"/>
              <a:t>A similar approach is by using lambda function</a:t>
            </a:r>
          </a:p>
          <a:p>
            <a:r>
              <a:rPr lang="it-IT" dirty="0" smtClean="0"/>
              <a:t>square = lambda x: x**2 			 print(square(4))</a:t>
            </a:r>
          </a:p>
          <a:p>
            <a:r>
              <a:rPr lang="it-IT" dirty="0" smtClean="0"/>
              <a:t>16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Anonymous Function – Lambda Functions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def </a:t>
            </a:r>
            <a:r>
              <a:rPr lang="en-US" dirty="0" err="1" smtClean="0"/>
              <a:t>square_root</a:t>
            </a:r>
            <a:r>
              <a:rPr lang="en-US" dirty="0" smtClean="0"/>
              <a:t>(x): 						return </a:t>
            </a:r>
            <a:r>
              <a:rPr lang="en-US" dirty="0" err="1" smtClean="0"/>
              <a:t>math.sqrt</a:t>
            </a:r>
            <a:r>
              <a:rPr lang="en-US" dirty="0" smtClean="0"/>
              <a:t>(x) 			 print(</a:t>
            </a:r>
            <a:r>
              <a:rPr lang="en-US" dirty="0" err="1" smtClean="0"/>
              <a:t>square_root</a:t>
            </a:r>
            <a:r>
              <a:rPr lang="en-US" dirty="0" smtClean="0"/>
              <a:t>(4))</a:t>
            </a:r>
          </a:p>
          <a:p>
            <a:r>
              <a:rPr lang="en-US" b="1" dirty="0" smtClean="0"/>
              <a:t>Equivalent code by using lambda</a:t>
            </a:r>
          </a:p>
          <a:p>
            <a:r>
              <a:rPr lang="en-US" dirty="0" err="1" smtClean="0"/>
              <a:t>square_root</a:t>
            </a:r>
            <a:r>
              <a:rPr lang="en-US" dirty="0" smtClean="0"/>
              <a:t> = lambda x: </a:t>
            </a:r>
            <a:r>
              <a:rPr lang="en-US" dirty="0" err="1" smtClean="0"/>
              <a:t>math.sqrt</a:t>
            </a:r>
            <a:r>
              <a:rPr lang="en-US" dirty="0" smtClean="0"/>
              <a:t>(x) print(</a:t>
            </a:r>
            <a:r>
              <a:rPr lang="en-US" dirty="0" err="1" smtClean="0"/>
              <a:t>square_root</a:t>
            </a:r>
            <a:r>
              <a:rPr lang="en-US" dirty="0" smtClean="0"/>
              <a:t>(4))</a:t>
            </a:r>
          </a:p>
          <a:p>
            <a:r>
              <a:rPr lang="es-ES" dirty="0" err="1" smtClean="0"/>
              <a:t>def</a:t>
            </a:r>
            <a:r>
              <a:rPr lang="es-ES" dirty="0" smtClean="0"/>
              <a:t> </a:t>
            </a:r>
            <a:r>
              <a:rPr lang="es-ES" dirty="0" err="1" smtClean="0"/>
              <a:t>sum</a:t>
            </a:r>
            <a:r>
              <a:rPr lang="es-ES" dirty="0" smtClean="0"/>
              <a:t>(</a:t>
            </a:r>
            <a:r>
              <a:rPr lang="es-ES" dirty="0" err="1" smtClean="0"/>
              <a:t>x,y</a:t>
            </a:r>
            <a:r>
              <a:rPr lang="es-ES" dirty="0" smtClean="0"/>
              <a:t>): 							</a:t>
            </a:r>
            <a:r>
              <a:rPr lang="es-ES" dirty="0" err="1" smtClean="0"/>
              <a:t>return</a:t>
            </a:r>
            <a:r>
              <a:rPr lang="es-ES" dirty="0" smtClean="0"/>
              <a:t> x + y</a:t>
            </a:r>
          </a:p>
          <a:p>
            <a:r>
              <a:rPr lang="en-US" dirty="0" smtClean="0"/>
              <a:t>print(sum(2,3))</a:t>
            </a:r>
          </a:p>
          <a:p>
            <a:r>
              <a:rPr lang="en-US" b="1" dirty="0" smtClean="0"/>
              <a:t>Equivalent code by using lambda</a:t>
            </a:r>
          </a:p>
          <a:p>
            <a:r>
              <a:rPr lang="es-ES" dirty="0" err="1" smtClean="0"/>
              <a:t>sum</a:t>
            </a:r>
            <a:r>
              <a:rPr lang="es-ES" dirty="0" smtClean="0"/>
              <a:t> = lambda x, y:   x + y  ; </a:t>
            </a:r>
            <a:r>
              <a:rPr lang="es-ES" dirty="0" err="1" smtClean="0"/>
              <a:t>print</a:t>
            </a:r>
            <a:r>
              <a:rPr lang="es-ES" dirty="0" smtClean="0"/>
              <a:t>(</a:t>
            </a:r>
            <a:r>
              <a:rPr lang="es-ES" dirty="0" err="1" smtClean="0"/>
              <a:t>sum</a:t>
            </a:r>
            <a:r>
              <a:rPr lang="es-ES" dirty="0" smtClean="0"/>
              <a:t>(2,3)) </a:t>
            </a:r>
          </a:p>
          <a:p>
            <a:endParaRPr lang="en-US" dirty="0" smtClean="0">
              <a:ea typeface="ヒラギノ角ゴ Pro W3" pitchFamily="-106" charset="-128"/>
            </a:endParaRPr>
          </a:p>
          <a:p>
            <a:endParaRPr lang="es-ES" dirty="0" smtClean="0"/>
          </a:p>
          <a:p>
            <a:endParaRPr lang="es-ES" dirty="0" smtClean="0"/>
          </a:p>
          <a:p>
            <a:endParaRPr lang="es-E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Anonymous Function – Lambda Functions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ea typeface="ヒラギノ角ゴ Pro W3" pitchFamily="-106" charset="-128"/>
              </a:rPr>
              <a:t>close_enough</a:t>
            </a:r>
            <a:r>
              <a:rPr lang="en-US" dirty="0" smtClean="0">
                <a:ea typeface="ヒラギノ角ゴ Pro W3" pitchFamily="-106" charset="-128"/>
              </a:rPr>
              <a:t> = lambda x, y : abs(x – y) &lt; 3	 print(</a:t>
            </a:r>
            <a:r>
              <a:rPr lang="en-US" dirty="0" err="1" smtClean="0">
                <a:ea typeface="ヒラギノ角ゴ Pro W3" pitchFamily="-106" charset="-128"/>
              </a:rPr>
              <a:t>close_enough</a:t>
            </a:r>
            <a:r>
              <a:rPr lang="en-US" dirty="0" smtClean="0">
                <a:ea typeface="ヒラギノ角ゴ Pro W3" pitchFamily="-106" charset="-128"/>
              </a:rPr>
              <a:t>(2, 4))                </a:t>
            </a:r>
          </a:p>
          <a:p>
            <a:r>
              <a:rPr lang="en-US" dirty="0" smtClean="0">
                <a:ea typeface="ヒラギノ角ゴ Pro W3" pitchFamily="-106" charset="-128"/>
              </a:rPr>
              <a:t>#return: True</a:t>
            </a:r>
          </a:p>
          <a:p>
            <a:r>
              <a:rPr lang="en-US" dirty="0" smtClean="0"/>
              <a:t>Actually, we don’t absolutely </a:t>
            </a:r>
            <a:r>
              <a:rPr lang="en-US" u="sng" dirty="0" smtClean="0"/>
              <a:t>need</a:t>
            </a:r>
            <a:r>
              <a:rPr lang="en-US" dirty="0" smtClean="0"/>
              <a:t> lambda; we could get along without it. </a:t>
            </a:r>
          </a:p>
          <a:p>
            <a:r>
              <a:rPr lang="en-US" dirty="0" smtClean="0"/>
              <a:t>But there are certain situations where it makes writing code a bit easier, and the written code a bit cleaner. </a:t>
            </a:r>
          </a:p>
          <a:p>
            <a:r>
              <a:rPr lang="en-US" dirty="0" smtClean="0"/>
              <a:t>What kind of situations? … Situations in which (a) the function is fairly simple, and (b) it is going to be used only once.</a:t>
            </a:r>
            <a:endParaRPr lang="en-US" dirty="0" smtClean="0">
              <a:ea typeface="ヒラギノ角ゴ Pro W3" pitchFamily="-106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Anonymous Function – Lambda Functions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b="1" dirty="0" smtClean="0"/>
              <a:t>Class Task1</a:t>
            </a:r>
          </a:p>
          <a:p>
            <a:pPr lvl="1"/>
            <a:r>
              <a:rPr lang="en-US" dirty="0" smtClean="0"/>
              <a:t>Create an anonymous function that will take name as input and return name is upper case.</a:t>
            </a:r>
          </a:p>
          <a:p>
            <a:pPr lvl="1"/>
            <a:r>
              <a:rPr lang="en-US" b="1" dirty="0" smtClean="0"/>
              <a:t>Solution</a:t>
            </a:r>
            <a:r>
              <a:rPr lang="en-US" dirty="0" smtClean="0"/>
              <a:t>								 name = lambda </a:t>
            </a:r>
            <a:r>
              <a:rPr lang="en-US" dirty="0" err="1" smtClean="0"/>
              <a:t>str</a:t>
            </a:r>
            <a:r>
              <a:rPr lang="en-US" dirty="0" smtClean="0"/>
              <a:t> : </a:t>
            </a:r>
            <a:r>
              <a:rPr lang="en-US" dirty="0" err="1" smtClean="0"/>
              <a:t>str.upper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smtClean="0"/>
              <a:t>print(name(</a:t>
            </a:r>
            <a:r>
              <a:rPr lang="en-US" b="1" dirty="0" smtClean="0"/>
              <a:t>“</a:t>
            </a:r>
            <a:r>
              <a:rPr lang="en-US" b="1" dirty="0" err="1" smtClean="0"/>
              <a:t>iqra</a:t>
            </a:r>
            <a:r>
              <a:rPr lang="en-US" b="1" dirty="0" smtClean="0"/>
              <a:t> university"</a:t>
            </a:r>
            <a:r>
              <a:rPr lang="en-US" dirty="0" smtClean="0"/>
              <a:t>))</a:t>
            </a:r>
          </a:p>
          <a:p>
            <a:pPr lvl="1"/>
            <a:r>
              <a:rPr lang="en-US" b="1" dirty="0" smtClean="0"/>
              <a:t>Output = IQRA UNIVERSITY</a:t>
            </a:r>
          </a:p>
          <a:p>
            <a:r>
              <a:rPr lang="en-US" b="1" dirty="0" smtClean="0"/>
              <a:t>Class Task2</a:t>
            </a:r>
          </a:p>
          <a:p>
            <a:pPr lvl="1"/>
            <a:r>
              <a:rPr lang="en-US" dirty="0" smtClean="0"/>
              <a:t>Create an anonymous functions that will take First Name and Last Name as input and will return Full Name in Titled Case.</a:t>
            </a:r>
          </a:p>
          <a:p>
            <a:pPr lvl="1"/>
            <a:r>
              <a:rPr lang="en-US" sz="2300" dirty="0" err="1" smtClean="0"/>
              <a:t>fullname</a:t>
            </a:r>
            <a:r>
              <a:rPr lang="en-US" sz="2300" dirty="0" smtClean="0"/>
              <a:t> = lambda </a:t>
            </a:r>
            <a:r>
              <a:rPr lang="en-US" sz="2300" dirty="0" err="1" smtClean="0"/>
              <a:t>fname,lname</a:t>
            </a:r>
            <a:r>
              <a:rPr lang="en-US" sz="2300" dirty="0" smtClean="0"/>
              <a:t> : (</a:t>
            </a:r>
            <a:r>
              <a:rPr lang="en-US" sz="2300" dirty="0" err="1" smtClean="0"/>
              <a:t>fname</a:t>
            </a:r>
            <a:r>
              <a:rPr lang="en-US" sz="2300" dirty="0" smtClean="0"/>
              <a:t> + </a:t>
            </a:r>
            <a:r>
              <a:rPr lang="en-US" sz="2300" b="1" dirty="0" smtClean="0"/>
              <a:t>" " </a:t>
            </a:r>
            <a:r>
              <a:rPr lang="en-US" sz="2300" dirty="0" smtClean="0"/>
              <a:t>+ </a:t>
            </a:r>
            <a:r>
              <a:rPr lang="en-US" sz="2300" dirty="0" err="1" smtClean="0"/>
              <a:t>lname</a:t>
            </a:r>
            <a:r>
              <a:rPr lang="en-US" sz="2300" dirty="0" smtClean="0"/>
              <a:t>).title()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print(</a:t>
            </a:r>
            <a:r>
              <a:rPr lang="en-US" dirty="0" err="1" smtClean="0"/>
              <a:t>fullname</a:t>
            </a:r>
            <a:r>
              <a:rPr lang="en-US" dirty="0" smtClean="0"/>
              <a:t>(</a:t>
            </a:r>
            <a:r>
              <a:rPr lang="en-US" b="1" dirty="0" smtClean="0"/>
              <a:t>"</a:t>
            </a:r>
            <a:r>
              <a:rPr lang="en-US" b="1" dirty="0" err="1" smtClean="0"/>
              <a:t>ali"</a:t>
            </a:r>
            <a:r>
              <a:rPr lang="en-US" dirty="0" err="1" smtClean="0"/>
              <a:t>,</a:t>
            </a:r>
            <a:r>
              <a:rPr lang="en-US" b="1" dirty="0" err="1" smtClean="0"/>
              <a:t>"ahmed</a:t>
            </a:r>
            <a:r>
              <a:rPr lang="en-US" b="1" dirty="0" smtClean="0"/>
              <a:t>"</a:t>
            </a:r>
            <a:r>
              <a:rPr lang="en-US" dirty="0" smtClean="0"/>
              <a:t>)) </a:t>
            </a:r>
          </a:p>
          <a:p>
            <a:pPr lvl="1"/>
            <a:r>
              <a:rPr lang="en-US" b="1" dirty="0" smtClean="0"/>
              <a:t>Output = Ali Ahmed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Anonymous Function – Lambda Functions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Class Task 3</a:t>
            </a:r>
          </a:p>
          <a:p>
            <a:endParaRPr lang="en-US" dirty="0" smtClean="0"/>
          </a:p>
          <a:p>
            <a:r>
              <a:rPr lang="en-US" dirty="0" smtClean="0"/>
              <a:t>Create an anonymous function that will take a number as input and print whether the given input is Odd or Even.</a:t>
            </a:r>
          </a:p>
          <a:p>
            <a:endParaRPr lang="en-US" b="1" dirty="0" smtClean="0"/>
          </a:p>
          <a:p>
            <a:r>
              <a:rPr lang="en-US" b="1" dirty="0" smtClean="0"/>
              <a:t>Solution</a:t>
            </a:r>
            <a:r>
              <a:rPr lang="en-US" dirty="0" smtClean="0"/>
              <a:t>	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OddEven</a:t>
            </a:r>
            <a:r>
              <a:rPr lang="en-US" sz="2000" dirty="0" smtClean="0"/>
              <a:t> = lambda x : </a:t>
            </a:r>
            <a:r>
              <a:rPr lang="en-US" sz="2000" b="1" dirty="0" smtClean="0"/>
              <a:t>"Even Number" </a:t>
            </a:r>
            <a:r>
              <a:rPr lang="en-US" sz="2000" dirty="0" smtClean="0"/>
              <a:t>if (x%2 == 0) else </a:t>
            </a:r>
            <a:r>
              <a:rPr lang="en-US" sz="2000" b="1" dirty="0" smtClean="0"/>
              <a:t>"Odd Number"</a:t>
            </a:r>
            <a:br>
              <a:rPr lang="en-US" sz="2000" b="1" dirty="0" smtClean="0"/>
            </a:br>
            <a:r>
              <a:rPr lang="en-US" dirty="0" smtClean="0"/>
              <a:t>print(</a:t>
            </a:r>
            <a:r>
              <a:rPr lang="en-US" dirty="0" err="1" smtClean="0"/>
              <a:t>OddEven</a:t>
            </a:r>
            <a:r>
              <a:rPr lang="en-US" dirty="0" smtClean="0"/>
              <a:t>(7))</a:t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Higher-Order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pPr eaLnBrk="1" hangingPunct="1"/>
            <a:r>
              <a:rPr lang="en-US" dirty="0" smtClean="0"/>
              <a:t>A higher-order function is a function that takes another function as a parameter or return a function.</a:t>
            </a:r>
          </a:p>
          <a:p>
            <a:pPr eaLnBrk="1" hangingPunct="1"/>
            <a:r>
              <a:rPr lang="en-US" dirty="0" smtClean="0"/>
              <a:t>They are “higher-order” because it’s a function of a function</a:t>
            </a:r>
          </a:p>
          <a:p>
            <a:pPr eaLnBrk="1" hangingPunct="1"/>
            <a:r>
              <a:rPr lang="en-US" dirty="0" smtClean="0"/>
              <a:t>Examples</a:t>
            </a:r>
          </a:p>
          <a:p>
            <a:pPr lvl="1" eaLnBrk="1" hangingPunct="1"/>
            <a:r>
              <a:rPr lang="en-US" dirty="0" smtClean="0">
                <a:ea typeface="ヒラギノ角ゴ Pro W3" pitchFamily="-106" charset="-128"/>
              </a:rPr>
              <a:t>Map</a:t>
            </a:r>
          </a:p>
          <a:p>
            <a:pPr lvl="1" eaLnBrk="1" hangingPunct="1"/>
            <a:r>
              <a:rPr lang="en-US" dirty="0" smtClean="0">
                <a:ea typeface="ヒラギノ角ゴ Pro W3" pitchFamily="-106" charset="-128"/>
              </a:rPr>
              <a:t>Reduce</a:t>
            </a:r>
          </a:p>
          <a:p>
            <a:pPr lvl="1" eaLnBrk="1" hangingPunct="1"/>
            <a:r>
              <a:rPr lang="en-US" dirty="0" smtClean="0">
                <a:ea typeface="ヒラギノ角ゴ Pro W3" pitchFamily="-106" charset="-128"/>
              </a:rPr>
              <a:t>Filter</a:t>
            </a:r>
          </a:p>
          <a:p>
            <a:pPr eaLnBrk="1" hangingPunct="1"/>
            <a:r>
              <a:rPr lang="en-US" dirty="0" smtClean="0"/>
              <a:t>Lambda works great as a parameter to higher-order functions if you can deal with its limitations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err="1" smtClean="0">
                <a:solidFill>
                  <a:srgbClr val="FFFFFF"/>
                </a:solidFill>
                <a:latin typeface="Tahoma" pitchFamily="-106" charset="0"/>
              </a:rPr>
              <a:t>Map</a:t>
            </a:r>
            <a:r>
              <a:rPr lang="en-US" sz="4800" b="1" dirty="0" err="1" smtClean="0"/>
              <a:t>Map</a:t>
            </a:r>
            <a:r>
              <a:rPr lang="en-US" sz="4800" b="1" dirty="0" smtClean="0"/>
              <a:t>() function</a:t>
            </a:r>
            <a:endParaRPr lang="en-US" b="1" dirty="0">
              <a:solidFill>
                <a:srgbClr val="FFFFFF"/>
              </a:solidFill>
              <a:latin typeface="Tahoma" pitchFamily="-10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sz="2400" dirty="0" smtClean="0"/>
              <a:t>The map() function applies a given function to each item of an </a:t>
            </a:r>
            <a:r>
              <a:rPr lang="en-US" sz="2400" dirty="0" err="1" smtClean="0"/>
              <a:t>iterable</a:t>
            </a:r>
            <a:r>
              <a:rPr lang="en-US" sz="2400" dirty="0" smtClean="0"/>
              <a:t> (list, </a:t>
            </a:r>
            <a:r>
              <a:rPr lang="en-US" sz="2400" dirty="0" err="1" smtClean="0"/>
              <a:t>tuple</a:t>
            </a:r>
            <a:r>
              <a:rPr lang="en-US" sz="2400" dirty="0" smtClean="0"/>
              <a:t> etc.) and returns a list of the results.</a:t>
            </a:r>
          </a:p>
          <a:p>
            <a:r>
              <a:rPr lang="en-US" sz="2400" dirty="0" smtClean="0"/>
              <a:t>The returned value from map() (map object) then can be passed to functions like </a:t>
            </a:r>
            <a:r>
              <a:rPr lang="en-US" sz="2400" dirty="0" smtClean="0">
                <a:hlinkClick r:id="rId2" tooltip="Python list() "/>
              </a:rPr>
              <a:t>list()</a:t>
            </a:r>
            <a:r>
              <a:rPr lang="en-US" sz="2400" dirty="0" smtClean="0"/>
              <a:t> (to create a list), </a:t>
            </a:r>
            <a:r>
              <a:rPr lang="en-US" sz="2400" dirty="0" smtClean="0">
                <a:hlinkClick r:id="rId3" tooltip="Python dict()"/>
              </a:rPr>
              <a:t>set()</a:t>
            </a:r>
            <a:r>
              <a:rPr lang="en-US" sz="2400" dirty="0" smtClean="0"/>
              <a:t> (to create a set) and so on.</a:t>
            </a:r>
          </a:p>
          <a:p>
            <a:r>
              <a:rPr lang="en-US" sz="2400" dirty="0" smtClean="0"/>
              <a:t>The syntax of map() is: 					map(function, </a:t>
            </a:r>
            <a:r>
              <a:rPr lang="en-US" sz="2400" dirty="0" err="1" smtClean="0"/>
              <a:t>iterable</a:t>
            </a:r>
            <a:r>
              <a:rPr lang="en-US" sz="2400" dirty="0" smtClean="0"/>
              <a:t>, ...)</a:t>
            </a:r>
          </a:p>
          <a:p>
            <a:r>
              <a:rPr lang="en-US" sz="2400" b="1" dirty="0" smtClean="0"/>
              <a:t>map() Parameter</a:t>
            </a:r>
          </a:p>
          <a:p>
            <a:pPr lvl="1"/>
            <a:r>
              <a:rPr lang="en-US" sz="2000" b="1" dirty="0" smtClean="0"/>
              <a:t>function</a:t>
            </a:r>
            <a:r>
              <a:rPr lang="en-US" sz="2000" dirty="0" smtClean="0"/>
              <a:t> - map() passes each item of the </a:t>
            </a:r>
            <a:r>
              <a:rPr lang="en-US" sz="2000" i="1" dirty="0" err="1" smtClean="0"/>
              <a:t>iterable</a:t>
            </a:r>
            <a:r>
              <a:rPr lang="en-US" sz="2000" dirty="0" smtClean="0"/>
              <a:t> to this function.</a:t>
            </a:r>
          </a:p>
          <a:p>
            <a:pPr lvl="1"/>
            <a:r>
              <a:rPr lang="en-US" sz="2000" b="1" dirty="0" err="1" smtClean="0"/>
              <a:t>iterable</a:t>
            </a:r>
            <a:r>
              <a:rPr lang="en-US" sz="2000" dirty="0" smtClean="0"/>
              <a:t> </a:t>
            </a:r>
            <a:r>
              <a:rPr lang="en-US" sz="2000" dirty="0" err="1" smtClean="0"/>
              <a:t>iterable</a:t>
            </a:r>
            <a:r>
              <a:rPr lang="en-US" sz="2000" dirty="0" smtClean="0"/>
              <a:t> which is to be mapped</a:t>
            </a:r>
          </a:p>
          <a:p>
            <a:r>
              <a:rPr lang="en-US" sz="2400" dirty="0" smtClean="0"/>
              <a:t>You can pass more than one </a:t>
            </a:r>
            <a:r>
              <a:rPr lang="en-US" sz="2400" i="1" dirty="0" err="1" smtClean="0"/>
              <a:t>iterable</a:t>
            </a:r>
            <a:r>
              <a:rPr lang="en-US" sz="2400" dirty="0" smtClean="0"/>
              <a:t> to the map() function.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FFFF"/>
                </a:solidFill>
                <a:latin typeface="Tahoma" pitchFamily="-106" charset="0"/>
              </a:rPr>
              <a:t>Map</a:t>
            </a:r>
            <a:r>
              <a:rPr lang="en-US" b="1" dirty="0" err="1" smtClean="0"/>
              <a:t>Map</a:t>
            </a:r>
            <a:r>
              <a:rPr lang="en-US" b="1" dirty="0" smtClean="0"/>
              <a:t>() function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74088" cy="5791200"/>
          </a:xfrm>
        </p:spPr>
        <p:txBody>
          <a:bodyPr/>
          <a:lstStyle/>
          <a:p>
            <a:r>
              <a:rPr lang="en-US" sz="2400" b="1" u="sng" dirty="0" smtClean="0"/>
              <a:t>Example 1</a:t>
            </a:r>
          </a:p>
          <a:p>
            <a:r>
              <a:rPr lang="en-US" sz="2400" dirty="0" smtClean="0"/>
              <a:t>def </a:t>
            </a:r>
            <a:r>
              <a:rPr lang="en-US" sz="2400" dirty="0" err="1" smtClean="0"/>
              <a:t>calculateSquare</a:t>
            </a:r>
            <a:r>
              <a:rPr lang="en-US" sz="2400" dirty="0" smtClean="0"/>
              <a:t>(n):</a:t>
            </a:r>
            <a:br>
              <a:rPr lang="en-US" sz="2400" dirty="0" smtClean="0"/>
            </a:br>
            <a:r>
              <a:rPr lang="en-US" sz="2400" dirty="0" smtClean="0"/>
              <a:t>  return n*n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numbers = (1, 2, 3, 4) // </a:t>
            </a:r>
            <a:r>
              <a:rPr lang="en-US" sz="2400" dirty="0" err="1" smtClean="0"/>
              <a:t>tuple</a:t>
            </a:r>
            <a:r>
              <a:rPr lang="en-US" sz="2400" dirty="0" smtClean="0"/>
              <a:t> as </a:t>
            </a:r>
            <a:r>
              <a:rPr lang="en-US" sz="2400" dirty="0" err="1" smtClean="0"/>
              <a:t>iterable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result = list(map(</a:t>
            </a:r>
            <a:r>
              <a:rPr lang="en-US" sz="2400" dirty="0" err="1" smtClean="0"/>
              <a:t>calculateSquare</a:t>
            </a:r>
            <a:r>
              <a:rPr lang="en-US" sz="2400" dirty="0" smtClean="0"/>
              <a:t>, numbers))</a:t>
            </a:r>
            <a:br>
              <a:rPr lang="en-US" sz="2400" dirty="0" smtClean="0"/>
            </a:br>
            <a:r>
              <a:rPr lang="en-US" sz="2400" dirty="0" smtClean="0"/>
              <a:t>print(result)</a:t>
            </a:r>
          </a:p>
          <a:p>
            <a:r>
              <a:rPr lang="en-US" sz="2400" dirty="0" smtClean="0"/>
              <a:t>Output = [1, 4, 9, 16]</a:t>
            </a:r>
          </a:p>
          <a:p>
            <a:pPr>
              <a:buNone/>
            </a:pPr>
            <a:r>
              <a:rPr lang="en-US" sz="2400" b="1" dirty="0" smtClean="0"/>
              <a:t>Using Lambda function with the map() function.</a:t>
            </a:r>
          </a:p>
          <a:p>
            <a:r>
              <a:rPr lang="en-US" sz="2400" dirty="0" smtClean="0"/>
              <a:t>numbers = (1, 2, 3, 4)						 result </a:t>
            </a:r>
            <a:r>
              <a:rPr lang="en-US" sz="2400" smtClean="0"/>
              <a:t>= list(map(lambda </a:t>
            </a:r>
            <a:r>
              <a:rPr lang="en-US" sz="2400" dirty="0" smtClean="0"/>
              <a:t>x: x*x, </a:t>
            </a:r>
            <a:r>
              <a:rPr lang="en-US" sz="2400" smtClean="0"/>
              <a:t>numbers))</a:t>
            </a:r>
            <a:r>
              <a:rPr lang="en-US" sz="2400" dirty="0" smtClean="0"/>
              <a:t>				 print(result)</a:t>
            </a:r>
          </a:p>
          <a:p>
            <a:r>
              <a:rPr lang="en-US" sz="2400" dirty="0" smtClean="0"/>
              <a:t>Output = [1, 4, 9, 16]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8420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Using Lambda function with the map() function.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066800"/>
            <a:ext cx="8574088" cy="5791200"/>
          </a:xfrm>
        </p:spPr>
        <p:txBody>
          <a:bodyPr/>
          <a:lstStyle/>
          <a:p>
            <a:r>
              <a:rPr lang="en-US" sz="2400" b="1" u="sng" dirty="0" smtClean="0">
                <a:ea typeface="ヒラギノ角ゴ Pro W3" pitchFamily="-106" charset="-128"/>
              </a:rPr>
              <a:t>Example 2</a:t>
            </a:r>
          </a:p>
          <a:p>
            <a:r>
              <a:rPr lang="en-US" sz="2400" dirty="0" err="1" smtClean="0">
                <a:ea typeface="ヒラギノ角ゴ Pro W3" pitchFamily="-106" charset="-128"/>
              </a:rPr>
              <a:t>nums</a:t>
            </a:r>
            <a:r>
              <a:rPr lang="en-US" sz="2400" dirty="0" smtClean="0">
                <a:ea typeface="ヒラギノ角ゴ Pro W3" pitchFamily="-106" charset="-128"/>
              </a:rPr>
              <a:t> = [0, 4, 7, 2, 1, 0 , 9 , 3, 5, 6, 8, 0, 3]			 </a:t>
            </a:r>
            <a:r>
              <a:rPr lang="en-US" sz="2400" dirty="0" err="1" smtClean="0">
                <a:ea typeface="ヒラギノ角ゴ Pro W3" pitchFamily="-106" charset="-128"/>
              </a:rPr>
              <a:t>nums</a:t>
            </a:r>
            <a:r>
              <a:rPr lang="en-US" sz="2400" dirty="0" smtClean="0">
                <a:ea typeface="ヒラギノ角ゴ Pro W3" pitchFamily="-106" charset="-128"/>
              </a:rPr>
              <a:t> = list(map(lambda x : x % 5, </a:t>
            </a:r>
            <a:r>
              <a:rPr lang="en-US" sz="2400" dirty="0" err="1" smtClean="0">
                <a:ea typeface="ヒラギノ角ゴ Pro W3" pitchFamily="-106" charset="-128"/>
              </a:rPr>
              <a:t>nums</a:t>
            </a:r>
            <a:r>
              <a:rPr lang="en-US" sz="2400" dirty="0" smtClean="0">
                <a:ea typeface="ヒラギノ角ゴ Pro W3" pitchFamily="-106" charset="-128"/>
              </a:rPr>
              <a:t>))</a:t>
            </a:r>
          </a:p>
          <a:p>
            <a:r>
              <a:rPr lang="en-US" sz="2400" dirty="0" smtClean="0"/>
              <a:t>Output = [0,4,2,2,1,0,4,3,0,1,3,0,3]</a:t>
            </a:r>
          </a:p>
          <a:p>
            <a:r>
              <a:rPr lang="en-US" sz="2400" b="1" u="sng" dirty="0" smtClean="0"/>
              <a:t>Example 3</a:t>
            </a:r>
          </a:p>
          <a:p>
            <a:r>
              <a:rPr lang="en-US" sz="2400" dirty="0" smtClean="0"/>
              <a:t>def multiply(x):</a:t>
            </a:r>
            <a:br>
              <a:rPr lang="en-US" sz="2400" dirty="0" smtClean="0"/>
            </a:br>
            <a:r>
              <a:rPr lang="en-US" sz="2400" dirty="0" smtClean="0"/>
              <a:t>      return (x*x)</a:t>
            </a:r>
            <a:br>
              <a:rPr lang="en-US" sz="2400" dirty="0" smtClean="0"/>
            </a:br>
            <a:r>
              <a:rPr lang="en-US" sz="2400" dirty="0" smtClean="0"/>
              <a:t>def add(x):</a:t>
            </a:r>
            <a:br>
              <a:rPr lang="en-US" sz="2400" dirty="0" smtClean="0"/>
            </a:br>
            <a:r>
              <a:rPr lang="en-US" sz="2400" dirty="0" smtClean="0"/>
              <a:t>      return (</a:t>
            </a:r>
            <a:r>
              <a:rPr lang="en-US" sz="2400" dirty="0" err="1" smtClean="0"/>
              <a:t>x+x</a:t>
            </a:r>
            <a:r>
              <a:rPr lang="en-US" sz="2400" dirty="0" smtClean="0"/>
              <a:t>)</a:t>
            </a:r>
          </a:p>
          <a:p>
            <a:r>
              <a:rPr lang="en-US" sz="2400" dirty="0" err="1" smtClean="0"/>
              <a:t>funcs</a:t>
            </a:r>
            <a:r>
              <a:rPr lang="en-US" sz="2400" dirty="0" smtClean="0"/>
              <a:t> = [multiply, add]</a:t>
            </a:r>
            <a:br>
              <a:rPr lang="en-US" sz="2400" dirty="0" smtClean="0"/>
            </a:br>
            <a:r>
              <a:rPr lang="en-US" sz="2400" dirty="0" smtClean="0"/>
              <a:t>for </a:t>
            </a:r>
            <a:r>
              <a:rPr lang="en-US" sz="2400" dirty="0" err="1" smtClean="0"/>
              <a:t>i</a:t>
            </a:r>
            <a:r>
              <a:rPr lang="en-US" sz="2400" dirty="0" smtClean="0"/>
              <a:t> in range(5):</a:t>
            </a:r>
            <a:br>
              <a:rPr lang="en-US" sz="2400" dirty="0" smtClean="0"/>
            </a:br>
            <a:r>
              <a:rPr lang="en-US" sz="2400" dirty="0" smtClean="0"/>
              <a:t>      value = list(map(lambda x: x(</a:t>
            </a:r>
            <a:r>
              <a:rPr lang="en-US" sz="2400" dirty="0" err="1" smtClean="0"/>
              <a:t>i</a:t>
            </a:r>
            <a:r>
              <a:rPr lang="en-US" sz="2400" dirty="0" smtClean="0"/>
              <a:t>), </a:t>
            </a:r>
            <a:r>
              <a:rPr lang="en-US" sz="2400" dirty="0" err="1" smtClean="0"/>
              <a:t>funcs</a:t>
            </a:r>
            <a:r>
              <a:rPr lang="en-US" sz="2400" dirty="0" smtClean="0"/>
              <a:t>))</a:t>
            </a:r>
            <a:br>
              <a:rPr lang="en-US" sz="2400" dirty="0" smtClean="0"/>
            </a:br>
            <a:r>
              <a:rPr lang="en-US" sz="2400" dirty="0" smtClean="0"/>
              <a:t>      print(value)</a:t>
            </a:r>
          </a:p>
          <a:p>
            <a:r>
              <a:rPr lang="en-US" sz="2400" dirty="0" smtClean="0"/>
              <a:t>[0, 0] [1, 2] [4, 4] [9, 6] [16, 8]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8220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Iterating over a dictionary using map and lambda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7" y="1219200"/>
            <a:ext cx="8574088" cy="5638800"/>
          </a:xfrm>
        </p:spPr>
        <p:txBody>
          <a:bodyPr/>
          <a:lstStyle/>
          <a:p>
            <a:r>
              <a:rPr lang="en-US" sz="2300" b="1" u="sng" dirty="0" smtClean="0"/>
              <a:t>Example 4</a:t>
            </a:r>
          </a:p>
          <a:p>
            <a:r>
              <a:rPr lang="en-US" sz="2300" dirty="0" err="1" smtClean="0"/>
              <a:t>dict_a</a:t>
            </a:r>
            <a:r>
              <a:rPr lang="en-US" sz="2300" dirty="0" smtClean="0"/>
              <a:t> = [{'name': 'python', 'points': 10}, {'name': 'java', 'points': 8}]</a:t>
            </a:r>
          </a:p>
          <a:p>
            <a:r>
              <a:rPr lang="en-US" sz="2400" dirty="0" smtClean="0"/>
              <a:t>x = list(map(lambda x : x['name'], </a:t>
            </a:r>
            <a:r>
              <a:rPr lang="en-US" sz="2400" dirty="0" err="1" smtClean="0"/>
              <a:t>dict_a</a:t>
            </a:r>
            <a:r>
              <a:rPr lang="en-US" sz="2400" dirty="0" smtClean="0"/>
              <a:t>)) 			 print(x)</a:t>
            </a:r>
          </a:p>
          <a:p>
            <a:r>
              <a:rPr lang="en-US" sz="2400" dirty="0" smtClean="0"/>
              <a:t># Output: ['python', 'java']</a:t>
            </a:r>
          </a:p>
          <a:p>
            <a:endParaRPr lang="en-US" sz="2400" dirty="0" smtClean="0"/>
          </a:p>
          <a:p>
            <a:r>
              <a:rPr lang="en-US" sz="2400" dirty="0" smtClean="0"/>
              <a:t>x = list(map(lambda x : x['points']*10, </a:t>
            </a:r>
            <a:r>
              <a:rPr lang="en-US" sz="2400" dirty="0" err="1" smtClean="0"/>
              <a:t>dict_a</a:t>
            </a:r>
            <a:r>
              <a:rPr lang="en-US" sz="2400" dirty="0" smtClean="0"/>
              <a:t>)) 			 print(x)</a:t>
            </a:r>
          </a:p>
          <a:p>
            <a:r>
              <a:rPr lang="en-US" sz="2400" dirty="0" smtClean="0"/>
              <a:t># Output: [100, 80]</a:t>
            </a:r>
          </a:p>
          <a:p>
            <a:endParaRPr lang="en-US" sz="2400" dirty="0" smtClean="0"/>
          </a:p>
          <a:p>
            <a:r>
              <a:rPr lang="en-US" sz="2400" dirty="0" smtClean="0"/>
              <a:t>x = list(map(lambda x : x['name'] == "python", </a:t>
            </a:r>
            <a:r>
              <a:rPr lang="en-US" sz="2400" dirty="0" err="1" smtClean="0"/>
              <a:t>dict_a</a:t>
            </a:r>
            <a:r>
              <a:rPr lang="en-US" sz="2400" dirty="0" smtClean="0"/>
              <a:t>)) 		 print(x)</a:t>
            </a:r>
          </a:p>
          <a:p>
            <a:r>
              <a:rPr lang="en-US" sz="2400" dirty="0" smtClean="0"/>
              <a:t> # Output: [True, False]</a:t>
            </a:r>
          </a:p>
          <a:p>
            <a:endParaRPr lang="en-US" sz="2300" dirty="0" smtClean="0"/>
          </a:p>
          <a:p>
            <a:endParaRPr lang="en-US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7355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FFFF"/>
                </a:solidFill>
                <a:latin typeface="Tahoma" pitchFamily="-106" charset="0"/>
              </a:rPr>
              <a:t>Map</a:t>
            </a:r>
            <a:r>
              <a:rPr lang="en-US" b="1" dirty="0" err="1" smtClean="0"/>
              <a:t>Map</a:t>
            </a:r>
            <a:r>
              <a:rPr lang="en-US" b="1" dirty="0" smtClean="0"/>
              <a:t>() function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066800"/>
            <a:ext cx="8574088" cy="5791200"/>
          </a:xfrm>
        </p:spPr>
        <p:txBody>
          <a:bodyPr/>
          <a:lstStyle/>
          <a:p>
            <a:r>
              <a:rPr lang="en-US" b="1" u="sng" dirty="0" smtClean="0"/>
              <a:t>Class Task</a:t>
            </a:r>
          </a:p>
          <a:p>
            <a:r>
              <a:rPr lang="en-US" sz="2400" dirty="0" smtClean="0"/>
              <a:t>Create a string variable with phrase “It is raining cats and dogs”. Then split the phrase in words and create a list of words. Finally create a list that include length of each word by using map() and anonymous function.</a:t>
            </a:r>
          </a:p>
          <a:p>
            <a:pPr>
              <a:buNone/>
            </a:pPr>
            <a:r>
              <a:rPr lang="en-US" sz="2400" b="1" u="sng" dirty="0" smtClean="0"/>
              <a:t>Solution</a:t>
            </a:r>
          </a:p>
          <a:p>
            <a:r>
              <a:rPr lang="en-US" sz="2600" dirty="0" smtClean="0"/>
              <a:t>sentence = 'It is raining cats and dogs‘</a:t>
            </a:r>
          </a:p>
          <a:p>
            <a:r>
              <a:rPr lang="en-US" sz="2600" dirty="0" smtClean="0"/>
              <a:t>words = </a:t>
            </a:r>
            <a:r>
              <a:rPr lang="en-US" sz="2600" dirty="0" err="1" smtClean="0"/>
              <a:t>sentence.split</a:t>
            </a:r>
            <a:r>
              <a:rPr lang="en-US" sz="2600" dirty="0" smtClean="0"/>
              <a:t>()</a:t>
            </a:r>
          </a:p>
          <a:p>
            <a:r>
              <a:rPr lang="en-US" sz="2600" dirty="0" smtClean="0"/>
              <a:t>print(words)</a:t>
            </a:r>
          </a:p>
          <a:p>
            <a:r>
              <a:rPr lang="en-US" sz="2600" dirty="0" smtClean="0"/>
              <a:t>['It', 'is', 'raining', 'cats', 'and', 'dogs']</a:t>
            </a:r>
          </a:p>
          <a:p>
            <a:r>
              <a:rPr lang="en-US" sz="2600" dirty="0" smtClean="0"/>
              <a:t>lengths = list(map(lambda word: </a:t>
            </a:r>
            <a:r>
              <a:rPr lang="en-US" sz="2600" dirty="0" err="1" smtClean="0"/>
              <a:t>len</a:t>
            </a:r>
            <a:r>
              <a:rPr lang="en-US" sz="2600" dirty="0" smtClean="0"/>
              <a:t>(word), words))</a:t>
            </a:r>
          </a:p>
          <a:p>
            <a:r>
              <a:rPr lang="en-US" sz="2600" dirty="0" smtClean="0"/>
              <a:t>print(lengths)</a:t>
            </a:r>
          </a:p>
          <a:p>
            <a:r>
              <a:rPr lang="en-US" sz="2600" dirty="0" smtClean="0"/>
              <a:t>[2, 2, 7, 4, 3, 4]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 smtClean="0"/>
              <a:t>Filter( ) Function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215528"/>
            <a:ext cx="8574088" cy="5638800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Syntax = filter(</a:t>
            </a:r>
            <a:r>
              <a:rPr lang="en-US" b="1" dirty="0" smtClean="0">
                <a:solidFill>
                  <a:srgbClr val="000000"/>
                </a:solidFill>
                <a:latin typeface="+mj-lt"/>
                <a:cs typeface="Courier New" charset="0"/>
              </a:rPr>
              <a:t>function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, </a:t>
            </a:r>
            <a:r>
              <a:rPr lang="en-US" b="1" dirty="0" err="1" smtClean="0">
                <a:solidFill>
                  <a:srgbClr val="000000"/>
                </a:solidFill>
                <a:latin typeface="+mj-lt"/>
                <a:cs typeface="Courier New" charset="0"/>
              </a:rPr>
              <a:t>iterable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)</a:t>
            </a:r>
          </a:p>
          <a:p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The filter runs through each element of </a:t>
            </a:r>
            <a:r>
              <a:rPr lang="en-US" b="1" dirty="0" err="1" smtClean="0">
                <a:solidFill>
                  <a:srgbClr val="000000"/>
                </a:solidFill>
                <a:latin typeface="+mj-lt"/>
                <a:cs typeface="Courier New" charset="0"/>
              </a:rPr>
              <a:t>iterable</a:t>
            </a:r>
            <a:r>
              <a:rPr lang="en-US" b="1" dirty="0" smtClean="0">
                <a:solidFill>
                  <a:srgbClr val="000000"/>
                </a:solidFill>
                <a:latin typeface="+mj-lt"/>
                <a:cs typeface="Courier New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(any </a:t>
            </a:r>
            <a:r>
              <a:rPr lang="en-US" dirty="0" err="1" smtClean="0">
                <a:solidFill>
                  <a:srgbClr val="000000"/>
                </a:solidFill>
                <a:latin typeface="+mj-lt"/>
                <a:cs typeface="Courier New" charset="0"/>
              </a:rPr>
              <a:t>iterable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 object such as a List or another collection)</a:t>
            </a:r>
          </a:p>
          <a:p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It applies </a:t>
            </a:r>
            <a:r>
              <a:rPr lang="en-US" b="1" dirty="0" smtClean="0">
                <a:solidFill>
                  <a:srgbClr val="000000"/>
                </a:solidFill>
                <a:latin typeface="+mj-lt"/>
                <a:cs typeface="Courier New" charset="0"/>
              </a:rPr>
              <a:t>function 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to each element of </a:t>
            </a:r>
            <a:r>
              <a:rPr lang="en-US" b="1" dirty="0" err="1" smtClean="0">
                <a:solidFill>
                  <a:srgbClr val="000000"/>
                </a:solidFill>
                <a:latin typeface="+mj-lt"/>
                <a:cs typeface="Courier New" charset="0"/>
              </a:rPr>
              <a:t>iterable</a:t>
            </a:r>
            <a:endParaRPr lang="en-US" b="1" dirty="0" smtClean="0">
              <a:solidFill>
                <a:srgbClr val="000000"/>
              </a:solidFill>
              <a:latin typeface="+mj-lt"/>
              <a:cs typeface="Courier New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If </a:t>
            </a:r>
            <a:r>
              <a:rPr lang="en-US" b="1" dirty="0" smtClean="0">
                <a:solidFill>
                  <a:srgbClr val="000000"/>
                </a:solidFill>
                <a:latin typeface="+mj-lt"/>
                <a:cs typeface="Courier New" charset="0"/>
              </a:rPr>
              <a:t>function 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returns True for that element then the element is put into a List </a:t>
            </a:r>
          </a:p>
          <a:p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This list is returned from filter in versions of python under 3</a:t>
            </a:r>
          </a:p>
          <a:p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In python 3, filter returns an </a:t>
            </a:r>
            <a:r>
              <a:rPr lang="en-US" dirty="0" err="1" smtClean="0">
                <a:solidFill>
                  <a:srgbClr val="000000"/>
                </a:solidFill>
                <a:latin typeface="+mj-lt"/>
                <a:cs typeface="Courier New" charset="0"/>
              </a:rPr>
              <a:t>iterator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 which must be cast to type list with list()</a:t>
            </a:r>
          </a:p>
          <a:p>
            <a:endParaRPr lang="en-US" dirty="0" smtClean="0">
              <a:solidFill>
                <a:srgbClr val="000000"/>
              </a:solidFill>
              <a:latin typeface="Tahoma" charset="0"/>
              <a:cs typeface="Courier New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50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/>
              <a:t>Filter( ) Function Example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219200"/>
            <a:ext cx="8574088" cy="5638800"/>
          </a:xfrm>
        </p:spPr>
        <p:txBody>
          <a:bodyPr/>
          <a:lstStyle/>
          <a:p>
            <a:pPr lvl="0"/>
            <a:r>
              <a:rPr lang="en-US" sz="3200" b="1" u="sng" dirty="0" smtClean="0">
                <a:solidFill>
                  <a:srgbClr val="000000"/>
                </a:solidFill>
                <a:latin typeface="+mj-lt"/>
                <a:ea typeface="ヒラギノ角ゴ Pro W3" charset="0"/>
                <a:cs typeface="ヒラギノ角ゴ Pro W3" charset="0"/>
              </a:rPr>
              <a:t>Example 1</a:t>
            </a:r>
          </a:p>
          <a:p>
            <a:pPr lvl="0"/>
            <a:r>
              <a:rPr lang="en-US" sz="3200" dirty="0" err="1" smtClean="0">
                <a:solidFill>
                  <a:srgbClr val="000000"/>
                </a:solidFill>
                <a:latin typeface="+mj-lt"/>
                <a:ea typeface="ヒラギノ角ゴ Pro W3" charset="0"/>
                <a:cs typeface="ヒラギノ角ゴ Pro W3" charset="0"/>
              </a:rPr>
              <a:t>nums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ヒラギノ角ゴ Pro W3" charset="0"/>
                <a:cs typeface="ヒラギノ角ゴ Pro W3" charset="0"/>
              </a:rPr>
              <a:t> = [0, 4, 7, 2, 1, 0 , 9 , 3, 5, 6, 8, 0, 3]</a:t>
            </a:r>
          </a:p>
          <a:p>
            <a:pPr lvl="0"/>
            <a:r>
              <a:rPr lang="en-US" sz="3200" dirty="0" err="1" smtClean="0">
                <a:solidFill>
                  <a:srgbClr val="000000"/>
                </a:solidFill>
                <a:latin typeface="+mj-lt"/>
                <a:ea typeface="ヒラギノ角ゴ Pro W3" charset="0"/>
                <a:cs typeface="ヒラギノ角ゴ Pro W3" charset="0"/>
              </a:rPr>
              <a:t>nums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ヒラギノ角ゴ Pro W3" charset="0"/>
                <a:cs typeface="ヒラギノ角ゴ Pro W3" charset="0"/>
              </a:rPr>
              <a:t> = list(filter(lambda x : x != 0, </a:t>
            </a:r>
            <a:r>
              <a:rPr lang="en-US" sz="3200" dirty="0" err="1" smtClean="0">
                <a:solidFill>
                  <a:srgbClr val="000000"/>
                </a:solidFill>
                <a:latin typeface="+mj-lt"/>
                <a:ea typeface="ヒラギノ角ゴ Pro W3" charset="0"/>
                <a:cs typeface="ヒラギノ角ゴ Pro W3" charset="0"/>
              </a:rPr>
              <a:t>nums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ヒラギノ角ゴ Pro W3" charset="0"/>
                <a:cs typeface="ヒラギノ角ゴ Pro W3" charset="0"/>
              </a:rPr>
              <a:t>))</a:t>
            </a:r>
          </a:p>
          <a:p>
            <a:r>
              <a:rPr lang="en-US" sz="3200" dirty="0" smtClean="0">
                <a:solidFill>
                  <a:srgbClr val="000000"/>
                </a:solidFill>
                <a:latin typeface="+mj-lt"/>
                <a:ea typeface="ヒラギノ角ゴ Pro W3" charset="0"/>
                <a:cs typeface="ヒラギノ角ゴ Pro W3" charset="0"/>
              </a:rPr>
              <a:t>print(</a:t>
            </a:r>
            <a:r>
              <a:rPr lang="en-US" sz="3200" dirty="0" err="1" smtClean="0">
                <a:solidFill>
                  <a:srgbClr val="000000"/>
                </a:solidFill>
                <a:latin typeface="+mj-lt"/>
                <a:ea typeface="ヒラギノ角ゴ Pro W3" charset="0"/>
                <a:cs typeface="ヒラギノ角ゴ Pro W3" charset="0"/>
              </a:rPr>
              <a:t>nums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ヒラギノ角ゴ Pro W3" charset="0"/>
                <a:cs typeface="ヒラギノ角ゴ Pro W3" charset="0"/>
              </a:rPr>
              <a:t>)</a:t>
            </a:r>
          </a:p>
          <a:p>
            <a:pPr lvl="0"/>
            <a:r>
              <a:rPr lang="en-US" sz="3200" dirty="0" smtClean="0">
                <a:latin typeface="+mj-lt"/>
                <a:ea typeface="ヒラギノ角ゴ Pro W3" charset="0"/>
                <a:cs typeface="ヒラギノ角ゴ Pro W3" charset="0"/>
              </a:rPr>
              <a:t>[4, 7, 2, 1, 9, 3, 5, 6, 8, 3]</a:t>
            </a:r>
          </a:p>
          <a:p>
            <a:pPr lvl="0"/>
            <a:r>
              <a:rPr lang="en-US" sz="3200" b="1" u="sng" dirty="0" smtClean="0">
                <a:latin typeface="+mj-lt"/>
                <a:ea typeface="ヒラギノ角ゴ Pro W3" charset="0"/>
                <a:cs typeface="ヒラギノ角ゴ Pro W3" charset="0"/>
              </a:rPr>
              <a:t>Example 2</a:t>
            </a:r>
          </a:p>
          <a:p>
            <a:pPr lvl="0"/>
            <a:r>
              <a:rPr lang="en-US" sz="3200" dirty="0" err="1" smtClean="0"/>
              <a:t>foo</a:t>
            </a:r>
            <a:r>
              <a:rPr lang="en-US" sz="3200" dirty="0" smtClean="0"/>
              <a:t> = [2, 18, 9, 22, 17, 24, 8, 12, 27]</a:t>
            </a:r>
          </a:p>
          <a:p>
            <a:pPr lvl="0"/>
            <a:r>
              <a:rPr lang="en-US" sz="3200" dirty="0" smtClean="0"/>
              <a:t>print(filter(lambda x: x % 3 == 0, </a:t>
            </a:r>
            <a:r>
              <a:rPr lang="en-US" sz="3200" dirty="0" err="1" smtClean="0"/>
              <a:t>foo</a:t>
            </a:r>
            <a:r>
              <a:rPr lang="en-US" sz="3200" dirty="0" smtClean="0"/>
              <a:t>))</a:t>
            </a:r>
          </a:p>
          <a:p>
            <a:pPr lvl="0"/>
            <a:r>
              <a:rPr lang="en-US" sz="3200" dirty="0" smtClean="0"/>
              <a:t>[18, 9, 24, 12, 27]</a:t>
            </a:r>
            <a:endParaRPr lang="en-US" sz="3200" dirty="0" smtClean="0">
              <a:latin typeface="+mj-lt"/>
              <a:ea typeface="ヒラギノ角ゴ Pro W3" charset="0"/>
              <a:cs typeface="ヒラギノ角ゴ Pro W3" charset="0"/>
            </a:endParaRPr>
          </a:p>
          <a:p>
            <a:pPr lvl="0"/>
            <a:endParaRPr lang="en-US" sz="3200" dirty="0" smtClean="0">
              <a:latin typeface="+mj-lt"/>
              <a:ea typeface="ヒラギノ角ゴ Pro W3" charset="0"/>
              <a:cs typeface="ヒラギノ角ゴ Pro W3" charset="0"/>
            </a:endParaRPr>
          </a:p>
          <a:p>
            <a:endParaRPr lang="en-US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6424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Filter( ) Function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74088" cy="5867400"/>
          </a:xfrm>
        </p:spPr>
        <p:txBody>
          <a:bodyPr/>
          <a:lstStyle/>
          <a:p>
            <a:r>
              <a:rPr lang="en-US" sz="2500" b="1" dirty="0" smtClean="0"/>
              <a:t>Example 3 </a:t>
            </a:r>
            <a:r>
              <a:rPr lang="en-US" sz="2500" dirty="0" smtClean="0"/>
              <a:t># </a:t>
            </a:r>
            <a:r>
              <a:rPr lang="en-US" sz="2500" dirty="0"/>
              <a:t>list of </a:t>
            </a:r>
            <a:r>
              <a:rPr lang="en-US" sz="2500" dirty="0" smtClean="0"/>
              <a:t>alphabets			</a:t>
            </a:r>
            <a:r>
              <a:rPr lang="en-US" sz="2500" dirty="0"/>
              <a:t>	</a:t>
            </a:r>
            <a:r>
              <a:rPr lang="en-US" sz="2500" dirty="0" smtClean="0"/>
              <a:t> alphabets </a:t>
            </a:r>
            <a:r>
              <a:rPr lang="en-US" sz="2500" dirty="0"/>
              <a:t>= ['a', 'b', 'd', 'e', '</a:t>
            </a:r>
            <a:r>
              <a:rPr lang="en-US" sz="2500" dirty="0" err="1"/>
              <a:t>i</a:t>
            </a:r>
            <a:r>
              <a:rPr lang="en-US" sz="2500" dirty="0"/>
              <a:t>', 'j', 'o']</a:t>
            </a:r>
          </a:p>
          <a:p>
            <a:r>
              <a:rPr lang="en-US" sz="2500" dirty="0" smtClean="0"/>
              <a:t># </a:t>
            </a:r>
            <a:r>
              <a:rPr lang="en-US" sz="2500" dirty="0"/>
              <a:t>function that filters vowels</a:t>
            </a:r>
          </a:p>
          <a:p>
            <a:r>
              <a:rPr lang="en-US" sz="2500" dirty="0" err="1"/>
              <a:t>def</a:t>
            </a:r>
            <a:r>
              <a:rPr lang="en-US" sz="2500" dirty="0"/>
              <a:t> </a:t>
            </a:r>
            <a:r>
              <a:rPr lang="en-US" sz="2500" dirty="0" err="1"/>
              <a:t>filterVowels</a:t>
            </a:r>
            <a:r>
              <a:rPr lang="en-US" sz="2500" dirty="0"/>
              <a:t>(alphabet</a:t>
            </a:r>
            <a:r>
              <a:rPr lang="en-US" sz="2500" dirty="0" smtClean="0"/>
              <a:t>):   					vowels </a:t>
            </a:r>
            <a:r>
              <a:rPr lang="en-US" sz="2500" dirty="0"/>
              <a:t>= ['a', 'e', '</a:t>
            </a:r>
            <a:r>
              <a:rPr lang="en-US" sz="2500" dirty="0" err="1"/>
              <a:t>i</a:t>
            </a:r>
            <a:r>
              <a:rPr lang="en-US" sz="2500" dirty="0"/>
              <a:t>', 'o', 'u</a:t>
            </a:r>
            <a:r>
              <a:rPr lang="en-US" sz="2500" dirty="0" smtClean="0"/>
              <a:t>']						 if(alphabet </a:t>
            </a:r>
            <a:r>
              <a:rPr lang="en-US" sz="2500" dirty="0"/>
              <a:t>in vowels</a:t>
            </a:r>
            <a:r>
              <a:rPr lang="en-US" sz="2500" dirty="0" smtClean="0"/>
              <a:t>):						        </a:t>
            </a:r>
            <a:r>
              <a:rPr lang="en-US" sz="2500" dirty="0"/>
              <a:t>return </a:t>
            </a:r>
            <a:r>
              <a:rPr lang="en-US" sz="2500" dirty="0" smtClean="0"/>
              <a:t>True							 else: 									        </a:t>
            </a:r>
            <a:r>
              <a:rPr lang="en-US" sz="2500" dirty="0"/>
              <a:t>return False</a:t>
            </a:r>
          </a:p>
          <a:p>
            <a:r>
              <a:rPr lang="en-US" sz="2500" dirty="0" err="1" smtClean="0"/>
              <a:t>filteredVowels</a:t>
            </a:r>
            <a:r>
              <a:rPr lang="en-US" sz="2500" dirty="0" smtClean="0"/>
              <a:t> </a:t>
            </a:r>
            <a:r>
              <a:rPr lang="en-US" sz="2500" dirty="0"/>
              <a:t>= list(filter(</a:t>
            </a:r>
            <a:r>
              <a:rPr lang="en-US" sz="2500" dirty="0" err="1"/>
              <a:t>filterVowels</a:t>
            </a:r>
            <a:r>
              <a:rPr lang="en-US" sz="2500" dirty="0"/>
              <a:t>, alphabets))</a:t>
            </a:r>
          </a:p>
          <a:p>
            <a:r>
              <a:rPr lang="en-US" sz="2500" dirty="0" smtClean="0"/>
              <a:t>print</a:t>
            </a:r>
            <a:r>
              <a:rPr lang="en-US" sz="2500" dirty="0"/>
              <a:t>('The filtered vowels are:')</a:t>
            </a:r>
          </a:p>
          <a:p>
            <a:r>
              <a:rPr lang="en-US" sz="2500" dirty="0"/>
              <a:t>for vowel in </a:t>
            </a:r>
            <a:r>
              <a:rPr lang="en-US" sz="2500" dirty="0" err="1"/>
              <a:t>filteredVowels</a:t>
            </a:r>
            <a:r>
              <a:rPr lang="en-US" sz="2500" dirty="0" smtClean="0"/>
              <a:t>:						    </a:t>
            </a:r>
            <a:r>
              <a:rPr lang="en-US" sz="2500" dirty="0"/>
              <a:t>print(vowel</a:t>
            </a:r>
            <a:r>
              <a:rPr lang="en-US" sz="2500" dirty="0" smtClean="0"/>
              <a:t>)</a:t>
            </a:r>
          </a:p>
          <a:p>
            <a:r>
              <a:rPr lang="en-US" sz="2500" dirty="0" smtClean="0"/>
              <a:t>Output = a e </a:t>
            </a:r>
            <a:r>
              <a:rPr lang="en-US" sz="2500" dirty="0" err="1" smtClean="0"/>
              <a:t>i</a:t>
            </a:r>
            <a:r>
              <a:rPr lang="en-US" sz="2500" dirty="0" smtClean="0"/>
              <a:t> o</a:t>
            </a:r>
            <a:endParaRPr lang="en-US" sz="2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0562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/>
              <a:t>Filter( ) Function Example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219200"/>
            <a:ext cx="8574088" cy="5486400"/>
          </a:xfrm>
        </p:spPr>
        <p:txBody>
          <a:bodyPr/>
          <a:lstStyle/>
          <a:p>
            <a:r>
              <a:rPr lang="en-US" sz="3200" b="1" u="sng" dirty="0" smtClean="0"/>
              <a:t>Class Task</a:t>
            </a:r>
          </a:p>
          <a:p>
            <a:r>
              <a:rPr lang="en-US" sz="3200" dirty="0" smtClean="0"/>
              <a:t>Create a number list from -5 to +4. Prints the list. Then filter the list to print numbers which are less then 0 by using filter() and lambda function.</a:t>
            </a:r>
          </a:p>
          <a:p>
            <a:r>
              <a:rPr lang="en-US" sz="3200" dirty="0" err="1" smtClean="0"/>
              <a:t>number_list</a:t>
            </a:r>
            <a:r>
              <a:rPr lang="en-US" sz="3200" dirty="0" smtClean="0"/>
              <a:t> = list(range(-5, 5))</a:t>
            </a:r>
          </a:p>
          <a:p>
            <a:r>
              <a:rPr lang="en-US" sz="3200" dirty="0" smtClean="0"/>
              <a:t>print(</a:t>
            </a:r>
            <a:r>
              <a:rPr lang="en-US" sz="3200" dirty="0" err="1" smtClean="0"/>
              <a:t>number_list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[-5, -4, -3, -2, -1, 0, 1, 2, 3, 4]</a:t>
            </a:r>
          </a:p>
          <a:p>
            <a:r>
              <a:rPr lang="en-US" sz="2700" dirty="0" err="1" smtClean="0"/>
              <a:t>less_than_zero</a:t>
            </a:r>
            <a:r>
              <a:rPr lang="en-US" sz="2700" dirty="0" smtClean="0"/>
              <a:t> = list(filter(lambda x: x &lt; 0, </a:t>
            </a:r>
            <a:r>
              <a:rPr lang="en-US" sz="2700" dirty="0" err="1" smtClean="0"/>
              <a:t>number_list</a:t>
            </a:r>
            <a:r>
              <a:rPr lang="en-US" sz="2700" dirty="0" smtClean="0"/>
              <a:t>))</a:t>
            </a:r>
          </a:p>
          <a:p>
            <a:r>
              <a:rPr lang="en-US" sz="3200" dirty="0" smtClean="0"/>
              <a:t>print(</a:t>
            </a:r>
            <a:r>
              <a:rPr lang="en-US" sz="3200" dirty="0" err="1" smtClean="0"/>
              <a:t>less_than_zero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[-5, -4, -3, -2, -1]</a:t>
            </a:r>
          </a:p>
          <a:p>
            <a:endParaRPr lang="en-US" sz="2400" b="1" u="sng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0914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/>
              <a:t>Reduce( ) Function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334000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reduce(</a:t>
            </a:r>
            <a:r>
              <a:rPr lang="en-US" b="1" dirty="0" smtClean="0">
                <a:solidFill>
                  <a:srgbClr val="000000"/>
                </a:solidFill>
                <a:latin typeface="+mj-lt"/>
                <a:cs typeface="Courier New" charset="0"/>
              </a:rPr>
              <a:t>function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, </a:t>
            </a:r>
            <a:r>
              <a:rPr lang="en-US" b="1" dirty="0" err="1" smtClean="0">
                <a:solidFill>
                  <a:srgbClr val="000000"/>
                </a:solidFill>
                <a:latin typeface="+mj-lt"/>
                <a:cs typeface="Courier New" charset="0"/>
              </a:rPr>
              <a:t>iterable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[,</a:t>
            </a:r>
            <a:r>
              <a:rPr lang="en-US" b="1" dirty="0" err="1" smtClean="0">
                <a:solidFill>
                  <a:srgbClr val="000000"/>
                </a:solidFill>
                <a:latin typeface="+mj-lt"/>
                <a:cs typeface="Courier New" charset="0"/>
              </a:rPr>
              <a:t>initializer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])</a:t>
            </a:r>
          </a:p>
          <a:p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Reduce will apply </a:t>
            </a:r>
            <a:r>
              <a:rPr lang="en-US" b="1" dirty="0" smtClean="0">
                <a:solidFill>
                  <a:srgbClr val="000000"/>
                </a:solidFill>
                <a:latin typeface="+mj-lt"/>
                <a:cs typeface="Courier New" charset="0"/>
              </a:rPr>
              <a:t>function 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to each element in </a:t>
            </a:r>
            <a:r>
              <a:rPr lang="en-US" b="1" dirty="0" err="1" smtClean="0">
                <a:solidFill>
                  <a:srgbClr val="000000"/>
                </a:solidFill>
                <a:latin typeface="+mj-lt"/>
                <a:cs typeface="Courier New" charset="0"/>
              </a:rPr>
              <a:t>iterable</a:t>
            </a:r>
            <a:r>
              <a:rPr lang="en-US" b="1" dirty="0" smtClean="0">
                <a:solidFill>
                  <a:srgbClr val="000000"/>
                </a:solidFill>
                <a:latin typeface="+mj-lt"/>
                <a:cs typeface="Courier New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along with the sum so far and create a cumulative sum of the results</a:t>
            </a:r>
          </a:p>
          <a:p>
            <a:r>
              <a:rPr lang="en-US" b="1" dirty="0" smtClean="0">
                <a:solidFill>
                  <a:srgbClr val="000000"/>
                </a:solidFill>
                <a:latin typeface="+mj-lt"/>
                <a:cs typeface="Courier New" charset="0"/>
              </a:rPr>
              <a:t>function 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must take two parameters</a:t>
            </a:r>
          </a:p>
          <a:p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If </a:t>
            </a:r>
            <a:r>
              <a:rPr lang="en-US" dirty="0" err="1" smtClean="0">
                <a:solidFill>
                  <a:srgbClr val="000000"/>
                </a:solidFill>
                <a:latin typeface="+mj-lt"/>
                <a:cs typeface="Courier New" charset="0"/>
              </a:rPr>
              <a:t>initializer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 is provided, </a:t>
            </a:r>
            <a:r>
              <a:rPr lang="en-US" dirty="0" err="1" smtClean="0">
                <a:solidFill>
                  <a:srgbClr val="000000"/>
                </a:solidFill>
                <a:latin typeface="+mj-lt"/>
                <a:cs typeface="Courier New" charset="0"/>
              </a:rPr>
              <a:t>initializer</a:t>
            </a:r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 will stand as the first argument in the sum</a:t>
            </a:r>
          </a:p>
          <a:p>
            <a:r>
              <a:rPr lang="en-US" dirty="0" smtClean="0">
                <a:solidFill>
                  <a:srgbClr val="000000"/>
                </a:solidFill>
                <a:latin typeface="+mj-lt"/>
                <a:cs typeface="Courier New" charset="0"/>
              </a:rPr>
              <a:t>Unfortunately in python 3 reduce() requires an import statement</a:t>
            </a:r>
          </a:p>
          <a:p>
            <a:pPr lvl="1"/>
            <a:r>
              <a:rPr lang="en-US" sz="2800" dirty="0" smtClean="0">
                <a:solidFill>
                  <a:srgbClr val="000000"/>
                </a:solidFill>
                <a:latin typeface="+mj-lt"/>
                <a:ea typeface="ＭＳ Ｐゴシック" charset="-128"/>
              </a:rPr>
              <a:t>from </a:t>
            </a:r>
            <a:r>
              <a:rPr lang="en-US" sz="2800" dirty="0" err="1" smtClean="0">
                <a:solidFill>
                  <a:srgbClr val="000000"/>
                </a:solidFill>
                <a:latin typeface="+mj-lt"/>
                <a:ea typeface="ＭＳ Ｐゴシック" charset="-128"/>
              </a:rPr>
              <a:t>functools</a:t>
            </a:r>
            <a:r>
              <a:rPr lang="en-US" sz="2800" dirty="0" smtClean="0">
                <a:solidFill>
                  <a:srgbClr val="000000"/>
                </a:solidFill>
                <a:latin typeface="+mj-lt"/>
                <a:ea typeface="ＭＳ Ｐゴシック" charset="-128"/>
              </a:rPr>
              <a:t> import reduce</a:t>
            </a:r>
          </a:p>
          <a:p>
            <a:pPr lvl="1">
              <a:buNone/>
            </a:pPr>
            <a:endParaRPr lang="en-US" sz="2000" dirty="0" smtClean="0">
              <a:solidFill>
                <a:srgbClr val="000000"/>
              </a:solidFill>
              <a:latin typeface="Tahoma" charset="0"/>
              <a:cs typeface="Courier New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Tahoma" charset="0"/>
              <a:cs typeface="Courier New" charset="0"/>
            </a:endParaRPr>
          </a:p>
          <a:p>
            <a:endParaRPr lang="en-US" sz="2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186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/>
              <a:t>Reduce( ) Function Example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b="1" u="sng" dirty="0" smtClean="0"/>
              <a:t>Example 1 (</a:t>
            </a:r>
            <a:r>
              <a:rPr lang="en-US" b="1" u="sng" dirty="0" err="1" smtClean="0"/>
              <a:t>Determinig</a:t>
            </a:r>
            <a:r>
              <a:rPr lang="en-US" b="1" u="sng" dirty="0" smtClean="0"/>
              <a:t> Product of a list)</a:t>
            </a:r>
          </a:p>
          <a:p>
            <a:r>
              <a:rPr lang="en-US" dirty="0" smtClean="0"/>
              <a:t>from </a:t>
            </a:r>
            <a:r>
              <a:rPr lang="en-US" dirty="0" err="1" smtClean="0"/>
              <a:t>functools</a:t>
            </a:r>
            <a:r>
              <a:rPr lang="en-US" dirty="0" smtClean="0"/>
              <a:t> import reduce</a:t>
            </a:r>
          </a:p>
          <a:p>
            <a:r>
              <a:rPr lang="en-US" dirty="0" smtClean="0"/>
              <a:t>product = reduce((lambda x, y: x * y), [1, 2, 3, 4])</a:t>
            </a:r>
          </a:p>
          <a:p>
            <a:r>
              <a:rPr lang="en-US" dirty="0" smtClean="0"/>
              <a:t>print(product)</a:t>
            </a:r>
          </a:p>
          <a:p>
            <a:r>
              <a:rPr lang="en-US" dirty="0" smtClean="0"/>
              <a:t>Output = 24</a:t>
            </a:r>
          </a:p>
          <a:p>
            <a:pPr>
              <a:buNone/>
            </a:pPr>
            <a:r>
              <a:rPr lang="en-US" b="1" u="sng" dirty="0" smtClean="0"/>
              <a:t>Normal use of Function</a:t>
            </a:r>
          </a:p>
          <a:p>
            <a:r>
              <a:rPr lang="en-US" dirty="0" smtClean="0"/>
              <a:t>product = 1 							 list = [1, 2, 3, 4] 							 for num in list: 						product = product * num 				 print(product)  </a:t>
            </a:r>
            <a:r>
              <a:rPr lang="en-US" dirty="0" smtClean="0">
                <a:sym typeface="Wingdings" pitchFamily="2" charset="2"/>
              </a:rPr>
              <a:t>  Output = 24</a:t>
            </a:r>
            <a:r>
              <a:rPr lang="en-US" dirty="0" smtClean="0"/>
              <a:t>	 				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9229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Reduce( ) Function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094342"/>
            <a:ext cx="8574088" cy="5763658"/>
          </a:xfrm>
        </p:spPr>
        <p:txBody>
          <a:bodyPr/>
          <a:lstStyle/>
          <a:p>
            <a:r>
              <a:rPr lang="en-US" b="1" u="sng" dirty="0" smtClean="0"/>
              <a:t>Example 2 (Determining Sum of a list)</a:t>
            </a:r>
          </a:p>
          <a:p>
            <a:r>
              <a:rPr lang="en-US" dirty="0" smtClean="0"/>
              <a:t>from </a:t>
            </a:r>
            <a:r>
              <a:rPr lang="en-US" dirty="0" err="1" smtClean="0"/>
              <a:t>functools</a:t>
            </a:r>
            <a:r>
              <a:rPr lang="en-US" dirty="0" smtClean="0"/>
              <a:t> import reduce</a:t>
            </a:r>
          </a:p>
          <a:p>
            <a:r>
              <a:rPr lang="en-US" dirty="0" err="1" smtClean="0"/>
              <a:t>num_list</a:t>
            </a:r>
            <a:r>
              <a:rPr lang="en-US" dirty="0" smtClean="0"/>
              <a:t> = [1, 2, 3, 4, 5, 6]</a:t>
            </a:r>
          </a:p>
          <a:p>
            <a:r>
              <a:rPr lang="es-ES" dirty="0" err="1" smtClean="0"/>
              <a:t>sum</a:t>
            </a:r>
            <a:r>
              <a:rPr lang="es-ES" dirty="0" smtClean="0"/>
              <a:t> = reduce((lambda x, y: x + y), </a:t>
            </a:r>
            <a:r>
              <a:rPr lang="es-ES" dirty="0" err="1" smtClean="0"/>
              <a:t>num_list</a:t>
            </a:r>
            <a:r>
              <a:rPr lang="es-ES" dirty="0" smtClean="0"/>
              <a:t>) 	 </a:t>
            </a:r>
            <a:r>
              <a:rPr lang="en-US" dirty="0" smtClean="0"/>
              <a:t>print(sum)</a:t>
            </a:r>
          </a:p>
          <a:p>
            <a:r>
              <a:rPr lang="en-US" dirty="0" smtClean="0"/>
              <a:t>Output = 21</a:t>
            </a:r>
          </a:p>
          <a:p>
            <a:pPr>
              <a:buNone/>
            </a:pPr>
            <a:r>
              <a:rPr lang="en-US" b="1" u="sng" dirty="0" smtClean="0"/>
              <a:t>Normal use of Function</a:t>
            </a:r>
          </a:p>
          <a:p>
            <a:r>
              <a:rPr lang="en-US" dirty="0" smtClean="0"/>
              <a:t>sum = 0 							 	 list = [1, 2, 3, 4, 5, 6] 						 for num in list: 							 	sum = sum + num 				 	 print(sum)  </a:t>
            </a:r>
            <a:r>
              <a:rPr lang="en-US" dirty="0" smtClean="0">
                <a:sym typeface="Wingdings" pitchFamily="2" charset="2"/>
              </a:rPr>
              <a:t>  Output = 21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4475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Reduce( ) Function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066800"/>
            <a:ext cx="8574088" cy="5791200"/>
          </a:xfrm>
        </p:spPr>
        <p:txBody>
          <a:bodyPr/>
          <a:lstStyle/>
          <a:p>
            <a:r>
              <a:rPr lang="en-US" sz="3200" b="1" u="sng" dirty="0" smtClean="0"/>
              <a:t>Example 3</a:t>
            </a:r>
          </a:p>
          <a:p>
            <a:r>
              <a:rPr lang="en-US" sz="3200" dirty="0" smtClean="0"/>
              <a:t>from </a:t>
            </a:r>
            <a:r>
              <a:rPr lang="en-US" sz="3200" dirty="0" err="1" smtClean="0"/>
              <a:t>functools</a:t>
            </a:r>
            <a:r>
              <a:rPr lang="en-US" sz="3200" dirty="0" smtClean="0"/>
              <a:t> import reduce</a:t>
            </a:r>
          </a:p>
          <a:p>
            <a:r>
              <a:rPr lang="en-US" sz="3200" dirty="0" err="1" smtClean="0"/>
              <a:t>nums</a:t>
            </a:r>
            <a:r>
              <a:rPr lang="en-US" sz="3200" dirty="0" smtClean="0"/>
              <a:t> = [1, 2, 3, 4, 5, 6, 7, 8]</a:t>
            </a:r>
          </a:p>
          <a:p>
            <a:r>
              <a:rPr lang="en-US" sz="3200" dirty="0" err="1" smtClean="0"/>
              <a:t>nums</a:t>
            </a:r>
            <a:r>
              <a:rPr lang="en-US" sz="3200" dirty="0" smtClean="0"/>
              <a:t> = list(reduce(lambda x, y : (x, y), </a:t>
            </a:r>
            <a:r>
              <a:rPr lang="en-US" sz="3200" dirty="0" err="1" smtClean="0"/>
              <a:t>nums</a:t>
            </a:r>
            <a:r>
              <a:rPr lang="en-US" sz="3200" dirty="0" smtClean="0"/>
              <a:t>))</a:t>
            </a:r>
          </a:p>
          <a:p>
            <a:r>
              <a:rPr lang="en-US" sz="3200" dirty="0" smtClean="0"/>
              <a:t>print(</a:t>
            </a:r>
            <a:r>
              <a:rPr lang="en-US" sz="3200" dirty="0" err="1" smtClean="0"/>
              <a:t>nums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[((((((1, 2), 3), 4), 5), 6), 7), 8]</a:t>
            </a:r>
          </a:p>
          <a:p>
            <a:pPr>
              <a:buNone/>
            </a:pP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1010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Recursion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74088" cy="5791200"/>
          </a:xfrm>
        </p:spPr>
        <p:txBody>
          <a:bodyPr/>
          <a:lstStyle/>
          <a:p>
            <a:r>
              <a:rPr lang="en-US" sz="2400" dirty="0" smtClean="0"/>
              <a:t>Recursion is the process of defining something in terms of itself.</a:t>
            </a:r>
          </a:p>
          <a:p>
            <a:r>
              <a:rPr lang="en-US" sz="2400" dirty="0" smtClean="0"/>
              <a:t>In Python, </a:t>
            </a:r>
            <a:r>
              <a:rPr lang="en-US" sz="2400" b="1" dirty="0" smtClean="0"/>
              <a:t>a function is recursive if it calls itself and has a termination condition</a:t>
            </a:r>
            <a:r>
              <a:rPr lang="en-US" sz="2400" dirty="0" smtClean="0"/>
              <a:t>. Why a termination condition? To stop the function from calling itself ad infinity.</a:t>
            </a:r>
          </a:p>
          <a:p>
            <a:pPr>
              <a:buNone/>
            </a:pPr>
            <a:r>
              <a:rPr lang="en-US" b="1" u="sng" dirty="0" smtClean="0"/>
              <a:t>Advantages of recursion</a:t>
            </a:r>
          </a:p>
          <a:p>
            <a:r>
              <a:rPr lang="en-US" dirty="0" smtClean="0"/>
              <a:t>Recursive functions make the code look clean and elegant</a:t>
            </a:r>
          </a:p>
          <a:p>
            <a:r>
              <a:rPr lang="en-US" dirty="0" smtClean="0"/>
              <a:t>A complex task can be broken down into simpler sub-problems using recursion.</a:t>
            </a:r>
          </a:p>
          <a:p>
            <a:r>
              <a:rPr lang="en-US" dirty="0" smtClean="0"/>
              <a:t>Sequence generation is easier with recursion than using some nested iteration.</a:t>
            </a:r>
            <a:endParaRPr lang="en-US" b="1" u="sng" dirty="0" smtClean="0"/>
          </a:p>
          <a:p>
            <a:pPr>
              <a:buNone/>
            </a:pPr>
            <a:endParaRPr lang="en-US" sz="2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0738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Recursion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574088" cy="54864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Disadvantages of recursion</a:t>
            </a:r>
          </a:p>
          <a:p>
            <a:r>
              <a:rPr lang="en-US" dirty="0" smtClean="0"/>
              <a:t>Sometimes the logic behind recursion is hard to follow through.</a:t>
            </a:r>
          </a:p>
          <a:p>
            <a:r>
              <a:rPr lang="en-US" dirty="0" smtClean="0"/>
              <a:t>Recursive calls are expensive (inefficient) as they take up a lot of memory and time.</a:t>
            </a:r>
          </a:p>
          <a:p>
            <a:r>
              <a:rPr lang="en-US" dirty="0" smtClean="0"/>
              <a:t>Recursive functions are hard to debug.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6640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Recursion Example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574088" cy="5715000"/>
          </a:xfrm>
        </p:spPr>
        <p:txBody>
          <a:bodyPr/>
          <a:lstStyle/>
          <a:p>
            <a:r>
              <a:rPr lang="en-US" sz="2500" i="1" dirty="0" smtClean="0"/>
              <a:t># Python program to find the sum of natural numbers up to n using recursive function</a:t>
            </a:r>
            <a:br>
              <a:rPr lang="en-US" sz="2500" i="1" dirty="0" smtClean="0"/>
            </a:br>
            <a:r>
              <a:rPr lang="en-US" sz="2500" dirty="0" smtClean="0"/>
              <a:t>def </a:t>
            </a:r>
            <a:r>
              <a:rPr lang="en-US" sz="2500" dirty="0" err="1" smtClean="0"/>
              <a:t>recur_sum</a:t>
            </a:r>
            <a:r>
              <a:rPr lang="en-US" sz="2500" dirty="0" smtClean="0"/>
              <a:t>(n):</a:t>
            </a:r>
            <a:br>
              <a:rPr lang="en-US" sz="2500" dirty="0" smtClean="0"/>
            </a:br>
            <a:r>
              <a:rPr lang="en-US" sz="2500" dirty="0" smtClean="0"/>
              <a:t>     </a:t>
            </a:r>
            <a:r>
              <a:rPr lang="en-US" sz="2400" i="1" dirty="0" smtClean="0"/>
              <a:t>"""Function to return the sum</a:t>
            </a:r>
            <a:br>
              <a:rPr lang="en-US" sz="2400" i="1" dirty="0" smtClean="0"/>
            </a:br>
            <a:r>
              <a:rPr lang="en-US" sz="2400" i="1" dirty="0" smtClean="0"/>
              <a:t>     of natural numbers using recursion"""</a:t>
            </a:r>
            <a:r>
              <a:rPr lang="en-US" sz="2500" i="1" dirty="0" smtClean="0"/>
              <a:t/>
            </a:r>
            <a:br>
              <a:rPr lang="en-US" sz="2500" i="1" dirty="0" smtClean="0"/>
            </a:br>
            <a:r>
              <a:rPr lang="en-US" sz="2500" i="1" dirty="0" smtClean="0"/>
              <a:t>     </a:t>
            </a:r>
            <a:r>
              <a:rPr lang="en-US" sz="2500" dirty="0" smtClean="0"/>
              <a:t>if n &lt;= 1:</a:t>
            </a:r>
            <a:br>
              <a:rPr lang="en-US" sz="2500" dirty="0" smtClean="0"/>
            </a:br>
            <a:r>
              <a:rPr lang="en-US" sz="2500" dirty="0" smtClean="0"/>
              <a:t>         return n</a:t>
            </a:r>
            <a:br>
              <a:rPr lang="en-US" sz="2500" dirty="0" smtClean="0"/>
            </a:br>
            <a:r>
              <a:rPr lang="en-US" sz="2500" dirty="0" smtClean="0"/>
              <a:t>     else:</a:t>
            </a:r>
            <a:br>
              <a:rPr lang="en-US" sz="2500" dirty="0" smtClean="0"/>
            </a:br>
            <a:r>
              <a:rPr lang="en-US" sz="2500" dirty="0" smtClean="0"/>
              <a:t>         return n + </a:t>
            </a:r>
            <a:r>
              <a:rPr lang="en-US" sz="2500" dirty="0" err="1" smtClean="0"/>
              <a:t>recur_sum</a:t>
            </a:r>
            <a:r>
              <a:rPr lang="en-US" sz="2500" dirty="0" smtClean="0"/>
              <a:t>(n-1)</a:t>
            </a:r>
            <a:br>
              <a:rPr lang="en-US" sz="2500" dirty="0" smtClean="0"/>
            </a:br>
            <a:r>
              <a:rPr lang="en-US" sz="2500" dirty="0" smtClean="0"/>
              <a:t>num = 4</a:t>
            </a:r>
            <a:br>
              <a:rPr lang="en-US" sz="2500" dirty="0" smtClean="0"/>
            </a:br>
            <a:r>
              <a:rPr lang="en-US" sz="2500" dirty="0" smtClean="0"/>
              <a:t>if num &lt; 0:</a:t>
            </a:r>
            <a:br>
              <a:rPr lang="en-US" sz="2500" dirty="0" smtClean="0"/>
            </a:br>
            <a:r>
              <a:rPr lang="en-US" sz="2500" dirty="0" smtClean="0"/>
              <a:t>   print(</a:t>
            </a:r>
            <a:r>
              <a:rPr lang="en-US" sz="2500" b="1" dirty="0" smtClean="0"/>
              <a:t>"Enter a positive number"</a:t>
            </a:r>
            <a:r>
              <a:rPr lang="en-US" sz="2500" dirty="0" smtClean="0"/>
              <a:t>)</a:t>
            </a:r>
            <a:br>
              <a:rPr lang="en-US" sz="2500" dirty="0" smtClean="0"/>
            </a:br>
            <a:r>
              <a:rPr lang="en-US" sz="2500" dirty="0" smtClean="0"/>
              <a:t>else:</a:t>
            </a:r>
            <a:br>
              <a:rPr lang="en-US" sz="2500" dirty="0" smtClean="0"/>
            </a:br>
            <a:r>
              <a:rPr lang="en-US" sz="2500" dirty="0" smtClean="0"/>
              <a:t>   print(</a:t>
            </a:r>
            <a:r>
              <a:rPr lang="en-US" sz="2500" b="1" dirty="0" smtClean="0"/>
              <a:t>"The sum </a:t>
            </a:r>
            <a:r>
              <a:rPr lang="en-US" sz="2500" b="1" dirty="0" err="1" smtClean="0"/>
              <a:t>is"</a:t>
            </a:r>
            <a:r>
              <a:rPr lang="en-US" sz="2500" dirty="0" err="1" smtClean="0"/>
              <a:t>,recur_sum</a:t>
            </a:r>
            <a:r>
              <a:rPr lang="en-US" sz="2500" dirty="0" smtClean="0"/>
              <a:t>(num)) </a:t>
            </a:r>
            <a:r>
              <a:rPr lang="en-US" sz="2500" dirty="0" smtClean="0">
                <a:sym typeface="Wingdings" pitchFamily="2" charset="2"/>
              </a:rPr>
              <a:t></a:t>
            </a:r>
            <a:r>
              <a:rPr lang="en-US" sz="2500" b="1" dirty="0" smtClean="0">
                <a:sym typeface="Wingdings" pitchFamily="2" charset="2"/>
              </a:rPr>
              <a:t>O/P</a:t>
            </a:r>
            <a:r>
              <a:rPr lang="en-US" sz="2500" dirty="0" smtClean="0">
                <a:sym typeface="Wingdings" pitchFamily="2" charset="2"/>
              </a:rPr>
              <a:t>= </a:t>
            </a:r>
            <a:r>
              <a:rPr lang="en-US" sz="2500" dirty="0" smtClean="0"/>
              <a:t>The sum is 10</a:t>
            </a:r>
            <a:endParaRPr lang="en-US" sz="2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8718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Recursion Example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74088" cy="5791200"/>
          </a:xfrm>
        </p:spPr>
        <p:txBody>
          <a:bodyPr/>
          <a:lstStyle/>
          <a:p>
            <a:r>
              <a:rPr lang="en-US" sz="2400" dirty="0" smtClean="0"/>
              <a:t>This output can be achieved using loops</a:t>
            </a:r>
          </a:p>
          <a:p>
            <a:r>
              <a:rPr lang="en-US" sz="2400" b="1" dirty="0" smtClean="0"/>
              <a:t>5 4 3 2 1 Blastoff!</a:t>
            </a:r>
          </a:p>
          <a:p>
            <a:r>
              <a:rPr lang="en-US" sz="2400" dirty="0" smtClean="0"/>
              <a:t>for countdown in range(5,0, -1):</a:t>
            </a:r>
            <a:br>
              <a:rPr lang="en-US" sz="2400" dirty="0" smtClean="0"/>
            </a:br>
            <a:r>
              <a:rPr lang="en-US" sz="2400" dirty="0" smtClean="0"/>
              <a:t>    print(countdown)</a:t>
            </a:r>
            <a:br>
              <a:rPr lang="en-US" sz="2400" dirty="0" smtClean="0"/>
            </a:br>
            <a:r>
              <a:rPr lang="en-US" sz="2400" dirty="0" smtClean="0"/>
              <a:t>    if countdown == 1:</a:t>
            </a:r>
            <a:br>
              <a:rPr lang="en-US" sz="2400" dirty="0" smtClean="0"/>
            </a:br>
            <a:r>
              <a:rPr lang="en-US" sz="2400" dirty="0" smtClean="0"/>
              <a:t>        print(</a:t>
            </a:r>
            <a:r>
              <a:rPr lang="en-US" sz="2400" b="1" dirty="0" smtClean="0"/>
              <a:t>"</a:t>
            </a:r>
            <a:r>
              <a:rPr lang="en-US" sz="2400" b="1" dirty="0" err="1" smtClean="0"/>
              <a:t>BlastOff</a:t>
            </a:r>
            <a:r>
              <a:rPr lang="en-US" sz="2400" b="1" dirty="0" smtClean="0"/>
              <a:t>!"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Same output can be achieved using Recursion.</a:t>
            </a:r>
          </a:p>
          <a:p>
            <a:r>
              <a:rPr lang="en-US" sz="2400" dirty="0" smtClean="0"/>
              <a:t>def countdown(n):</a:t>
            </a:r>
            <a:br>
              <a:rPr lang="en-US" sz="2400" dirty="0" smtClean="0"/>
            </a:br>
            <a:r>
              <a:rPr lang="en-US" sz="2400" dirty="0" smtClean="0"/>
              <a:t>    if n == 0:</a:t>
            </a:r>
            <a:br>
              <a:rPr lang="en-US" sz="2400" dirty="0" smtClean="0"/>
            </a:br>
            <a:r>
              <a:rPr lang="en-US" sz="2400" dirty="0" smtClean="0"/>
              <a:t>       print(</a:t>
            </a:r>
            <a:r>
              <a:rPr lang="en-US" sz="2400" b="1" dirty="0" smtClean="0"/>
              <a:t>'Blastoff!'</a:t>
            </a:r>
            <a:r>
              <a:rPr lang="en-US" sz="2400" dirty="0" smtClean="0"/>
              <a:t>)</a:t>
            </a:r>
            <a:br>
              <a:rPr lang="en-US" sz="2400" dirty="0" smtClean="0"/>
            </a:br>
            <a:r>
              <a:rPr lang="en-US" sz="2400" dirty="0" smtClean="0"/>
              <a:t>    else:</a:t>
            </a:r>
            <a:br>
              <a:rPr lang="en-US" sz="2400" dirty="0" smtClean="0"/>
            </a:br>
            <a:r>
              <a:rPr lang="en-US" sz="2400" dirty="0" smtClean="0"/>
              <a:t>       print(n)</a:t>
            </a:r>
            <a:br>
              <a:rPr lang="en-US" sz="2400" dirty="0" smtClean="0"/>
            </a:br>
            <a:r>
              <a:rPr lang="en-US" sz="2400" dirty="0" smtClean="0"/>
              <a:t>       countdown(n - 1)</a:t>
            </a:r>
            <a:br>
              <a:rPr lang="en-US" sz="2400" dirty="0" smtClean="0"/>
            </a:br>
            <a:r>
              <a:rPr lang="en-US" sz="2400" dirty="0" smtClean="0"/>
              <a:t>countdown(5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6051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Recursion Example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74088" cy="5715000"/>
          </a:xfrm>
        </p:spPr>
        <p:txBody>
          <a:bodyPr/>
          <a:lstStyle/>
          <a:p>
            <a:r>
              <a:rPr lang="en-US" b="1" dirty="0" smtClean="0"/>
              <a:t>Adding all numbers in a list.</a:t>
            </a:r>
          </a:p>
          <a:p>
            <a:r>
              <a:rPr lang="en-US" dirty="0" smtClean="0"/>
              <a:t>Without Recursion</a:t>
            </a:r>
          </a:p>
          <a:p>
            <a:r>
              <a:rPr lang="en-US" b="1" dirty="0" smtClean="0"/>
              <a:t>def</a:t>
            </a:r>
            <a:r>
              <a:rPr lang="en-US" dirty="0" smtClean="0"/>
              <a:t> sum(list): 							sum = 0   							</a:t>
            </a:r>
            <a:r>
              <a:rPr lang="en-US" i="1" dirty="0" smtClean="0"/>
              <a:t># Add every number in the list.</a:t>
            </a:r>
            <a:r>
              <a:rPr lang="en-US" dirty="0" smtClean="0"/>
              <a:t> 				</a:t>
            </a:r>
            <a:r>
              <a:rPr lang="en-US" b="1" dirty="0" smtClean="0"/>
              <a:t>for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b="1" dirty="0" smtClean="0"/>
              <a:t>in</a:t>
            </a:r>
            <a:r>
              <a:rPr lang="en-US" dirty="0" smtClean="0"/>
              <a:t> range(0, </a:t>
            </a:r>
            <a:r>
              <a:rPr lang="en-US" dirty="0" err="1" smtClean="0"/>
              <a:t>len</a:t>
            </a:r>
            <a:r>
              <a:rPr lang="en-US" dirty="0" smtClean="0"/>
              <a:t>(list)): 						sum = sum + list[</a:t>
            </a:r>
            <a:r>
              <a:rPr lang="en-US" dirty="0" err="1" smtClean="0"/>
              <a:t>i</a:t>
            </a:r>
            <a:r>
              <a:rPr lang="en-US" dirty="0" smtClean="0"/>
              <a:t>]   				</a:t>
            </a:r>
            <a:r>
              <a:rPr lang="en-US" i="1" dirty="0" smtClean="0"/>
              <a:t># Return the sum.</a:t>
            </a:r>
            <a:r>
              <a:rPr lang="en-US" dirty="0" smtClean="0"/>
              <a:t> 						</a:t>
            </a:r>
            <a:r>
              <a:rPr lang="en-US" b="1" dirty="0" smtClean="0"/>
              <a:t>return</a:t>
            </a:r>
            <a:r>
              <a:rPr lang="en-US" dirty="0" smtClean="0"/>
              <a:t> sum   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print</a:t>
            </a:r>
            <a:r>
              <a:rPr lang="en-US" dirty="0" smtClean="0"/>
              <a:t>(sum([5,7,3,8,10])) </a:t>
            </a:r>
            <a:r>
              <a:rPr lang="en-US" dirty="0" smtClean="0">
                <a:sym typeface="Wingdings" pitchFamily="2" charset="2"/>
              </a:rPr>
              <a:t> 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6982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Recursion Example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74088" cy="5257800"/>
          </a:xfrm>
        </p:spPr>
        <p:txBody>
          <a:bodyPr/>
          <a:lstStyle/>
          <a:p>
            <a:r>
              <a:rPr lang="en-US" dirty="0" smtClean="0"/>
              <a:t>Using Recursion</a:t>
            </a:r>
          </a:p>
          <a:p>
            <a:endParaRPr lang="en-US" dirty="0" smtClean="0"/>
          </a:p>
          <a:p>
            <a:r>
              <a:rPr lang="en-US" dirty="0" smtClean="0"/>
              <a:t>def sum(list):</a:t>
            </a:r>
            <a:br>
              <a:rPr lang="en-US" dirty="0" smtClean="0"/>
            </a:br>
            <a:r>
              <a:rPr lang="en-US" dirty="0" smtClean="0"/>
              <a:t>    if </a:t>
            </a:r>
            <a:r>
              <a:rPr lang="en-US" dirty="0" err="1" smtClean="0"/>
              <a:t>len</a:t>
            </a:r>
            <a:r>
              <a:rPr lang="en-US" dirty="0" smtClean="0"/>
              <a:t>(list) == 1:</a:t>
            </a:r>
            <a:br>
              <a:rPr lang="en-US" dirty="0" smtClean="0"/>
            </a:br>
            <a:r>
              <a:rPr lang="en-US" dirty="0" smtClean="0"/>
              <a:t>        return list[0]</a:t>
            </a:r>
            <a:br>
              <a:rPr lang="en-US" dirty="0" smtClean="0"/>
            </a:br>
            <a:r>
              <a:rPr lang="en-US" dirty="0" smtClean="0"/>
              <a:t>    else:</a:t>
            </a:r>
            <a:br>
              <a:rPr lang="en-US" dirty="0" smtClean="0"/>
            </a:br>
            <a:r>
              <a:rPr lang="en-US" dirty="0" smtClean="0"/>
              <a:t>        return list[0] + sum(list[1:])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print(sum([5, 7, 3, 8, 10]))</a:t>
            </a:r>
          </a:p>
          <a:p>
            <a:r>
              <a:rPr lang="en-US" smtClean="0"/>
              <a:t>Output = 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54841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Modules in Python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066800"/>
            <a:ext cx="8574088" cy="5791200"/>
          </a:xfrm>
        </p:spPr>
        <p:txBody>
          <a:bodyPr/>
          <a:lstStyle/>
          <a:p>
            <a:r>
              <a:rPr lang="en-US" sz="2550" dirty="0" smtClean="0"/>
              <a:t>A module allows you to logically organize your Python code. </a:t>
            </a:r>
          </a:p>
          <a:p>
            <a:r>
              <a:rPr lang="en-US" sz="2550" dirty="0" smtClean="0"/>
              <a:t>You can store your functions in a separate file called a </a:t>
            </a:r>
            <a:r>
              <a:rPr lang="en-US" sz="2550" i="1" dirty="0" smtClean="0"/>
              <a:t>module </a:t>
            </a:r>
            <a:r>
              <a:rPr lang="en-US" sz="2550" dirty="0" smtClean="0"/>
              <a:t>and then importing that module into your main program.</a:t>
            </a:r>
          </a:p>
          <a:p>
            <a:r>
              <a:rPr lang="en-US" sz="2550" dirty="0" smtClean="0"/>
              <a:t>Grouping related code into a module makes the code easier to understand and use.</a:t>
            </a:r>
          </a:p>
          <a:p>
            <a:r>
              <a:rPr lang="en-US" sz="2550" dirty="0" smtClean="0"/>
              <a:t>An import statement tells Python to make the code in a module available in the currently running program file.</a:t>
            </a:r>
          </a:p>
          <a:p>
            <a:r>
              <a:rPr lang="en-US" sz="2550" dirty="0" smtClean="0"/>
              <a:t>It also allows you to reuse functions in many different programs.</a:t>
            </a:r>
          </a:p>
          <a:p>
            <a:r>
              <a:rPr lang="en-US" sz="2550" dirty="0" smtClean="0"/>
              <a:t>When you store your functions in separate files, you can share those files with other programmers without having to share your entire program.</a:t>
            </a:r>
            <a:endParaRPr lang="en-US" sz="25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Importing an Entire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74088" cy="5638800"/>
          </a:xfrm>
        </p:spPr>
        <p:txBody>
          <a:bodyPr/>
          <a:lstStyle/>
          <a:p>
            <a:r>
              <a:rPr lang="en-US" dirty="0" smtClean="0"/>
              <a:t>To start importing functions, we first need to create a module.</a:t>
            </a:r>
          </a:p>
          <a:p>
            <a:r>
              <a:rPr lang="en-US" dirty="0" smtClean="0"/>
              <a:t>A </a:t>
            </a:r>
            <a:r>
              <a:rPr lang="en-US" i="1" dirty="0" smtClean="0"/>
              <a:t>module </a:t>
            </a:r>
            <a:r>
              <a:rPr lang="en-US" dirty="0" smtClean="0"/>
              <a:t>is a file ending in </a:t>
            </a:r>
            <a:r>
              <a:rPr lang="en-US" i="1" dirty="0" smtClean="0"/>
              <a:t>.</a:t>
            </a:r>
            <a:r>
              <a:rPr lang="en-US" i="1" dirty="0" err="1" smtClean="0"/>
              <a:t>py</a:t>
            </a:r>
            <a:r>
              <a:rPr lang="en-US" i="1" dirty="0" smtClean="0"/>
              <a:t> </a:t>
            </a:r>
            <a:r>
              <a:rPr lang="en-US" dirty="0" smtClean="0"/>
              <a:t>that contains the code you want to import into your program.</a:t>
            </a:r>
          </a:p>
          <a:p>
            <a:r>
              <a:rPr lang="en-US" dirty="0" smtClean="0"/>
              <a:t>Let’s make a module that contains the function </a:t>
            </a:r>
            <a:r>
              <a:rPr lang="en-US" dirty="0" err="1" smtClean="0"/>
              <a:t>make_pizza</a:t>
            </a:r>
            <a:r>
              <a:rPr lang="en-US" dirty="0" smtClean="0"/>
              <a:t>().</a:t>
            </a:r>
          </a:p>
          <a:p>
            <a:r>
              <a:rPr lang="en-US" dirty="0" smtClean="0"/>
              <a:t>def </a:t>
            </a:r>
            <a:r>
              <a:rPr lang="en-US" dirty="0" err="1" smtClean="0"/>
              <a:t>make_pizza</a:t>
            </a:r>
            <a:r>
              <a:rPr lang="en-US" dirty="0" smtClean="0"/>
              <a:t>(size, *toppings):		"""Summarize the pizza we are about to make."“”	</a:t>
            </a:r>
            <a:r>
              <a:rPr lang="en-US" sz="1800" dirty="0" smtClean="0"/>
              <a:t>print("\</a:t>
            </a:r>
            <a:r>
              <a:rPr lang="en-US" sz="1800" dirty="0" err="1" smtClean="0"/>
              <a:t>nMaking</a:t>
            </a:r>
            <a:r>
              <a:rPr lang="en-US" sz="1800" dirty="0" smtClean="0"/>
              <a:t> a " + </a:t>
            </a:r>
            <a:r>
              <a:rPr lang="en-US" sz="1800" dirty="0" err="1" smtClean="0"/>
              <a:t>str</a:t>
            </a:r>
            <a:r>
              <a:rPr lang="en-US" sz="1800" dirty="0" smtClean="0"/>
              <a:t>(size) + "-inch pizza with the following toppings:“)	</a:t>
            </a:r>
            <a:r>
              <a:rPr lang="en-US" dirty="0" smtClean="0"/>
              <a:t>	for topping in toppings: 							print("- " + topping)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Importing an Entire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574088" cy="5638800"/>
          </a:xfrm>
        </p:spPr>
        <p:txBody>
          <a:bodyPr/>
          <a:lstStyle/>
          <a:p>
            <a:r>
              <a:rPr lang="en-US" dirty="0" smtClean="0"/>
              <a:t>Now we’ll make a separate file called </a:t>
            </a:r>
            <a:r>
              <a:rPr lang="en-US" i="1" dirty="0" smtClean="0"/>
              <a:t>making_pizzas.py </a:t>
            </a:r>
            <a:r>
              <a:rPr lang="en-US" dirty="0" smtClean="0"/>
              <a:t>in the same directory as </a:t>
            </a:r>
            <a:r>
              <a:rPr lang="en-US" i="1" dirty="0" smtClean="0"/>
              <a:t>pizza.py.</a:t>
            </a:r>
          </a:p>
          <a:p>
            <a:r>
              <a:rPr lang="en-US" dirty="0" smtClean="0"/>
              <a:t>This file imports the module we just created and then makes two calls to </a:t>
            </a:r>
            <a:r>
              <a:rPr lang="en-US" dirty="0" err="1" smtClean="0"/>
              <a:t>make_pizza</a:t>
            </a:r>
            <a:r>
              <a:rPr lang="en-US" dirty="0" smtClean="0"/>
              <a:t>():</a:t>
            </a:r>
          </a:p>
          <a:p>
            <a:r>
              <a:rPr lang="en-US" dirty="0" smtClean="0"/>
              <a:t>import pizza					 </a:t>
            </a:r>
            <a:r>
              <a:rPr lang="en-US" dirty="0" err="1" smtClean="0"/>
              <a:t>pizza.make_pizza</a:t>
            </a:r>
            <a:r>
              <a:rPr lang="en-US" dirty="0" smtClean="0"/>
              <a:t>(16, 'pepperoni‘)		 </a:t>
            </a:r>
            <a:r>
              <a:rPr lang="en-US" sz="2300" dirty="0" err="1" smtClean="0"/>
              <a:t>pizza.make_pizza</a:t>
            </a:r>
            <a:r>
              <a:rPr lang="en-US" sz="2300" dirty="0" smtClean="0"/>
              <a:t>(12, 'mushrooms', 'green peppers', 'extra cheese')</a:t>
            </a:r>
          </a:p>
          <a:p>
            <a:r>
              <a:rPr lang="en-US" sz="2400" dirty="0" smtClean="0"/>
              <a:t>Making a 16-inch pizza with the following toppings:		 - pepperoni								 Making a 12-inch pizza with the following toppings:		 - mushrooms							 - green peppers						              - extra cheese</a:t>
            </a:r>
            <a:endParaRPr lang="en-US" sz="2300" dirty="0" smtClean="0"/>
          </a:p>
          <a:p>
            <a:endParaRPr lang="en-US" i="1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Importing Specific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74088" cy="5715000"/>
          </a:xfrm>
        </p:spPr>
        <p:txBody>
          <a:bodyPr/>
          <a:lstStyle/>
          <a:p>
            <a:r>
              <a:rPr lang="en-US" dirty="0" smtClean="0"/>
              <a:t>You can also import a specific function from a module. Here’s the general syntax for this approach:</a:t>
            </a:r>
          </a:p>
          <a:p>
            <a:r>
              <a:rPr lang="en-US" dirty="0" smtClean="0"/>
              <a:t>from </a:t>
            </a:r>
            <a:r>
              <a:rPr lang="en-US" i="1" dirty="0" err="1" smtClean="0"/>
              <a:t>module_name</a:t>
            </a:r>
            <a:r>
              <a:rPr lang="en-US" i="1" dirty="0" smtClean="0"/>
              <a:t> </a:t>
            </a:r>
            <a:r>
              <a:rPr lang="en-US" dirty="0" smtClean="0"/>
              <a:t>import</a:t>
            </a:r>
            <a:r>
              <a:rPr lang="en-US" i="1" dirty="0" smtClean="0"/>
              <a:t> </a:t>
            </a:r>
            <a:r>
              <a:rPr lang="en-US" i="1" dirty="0" err="1" smtClean="0"/>
              <a:t>function_name</a:t>
            </a:r>
            <a:endParaRPr lang="en-US" i="1" dirty="0" smtClean="0"/>
          </a:p>
          <a:p>
            <a:r>
              <a:rPr lang="en-US" dirty="0" smtClean="0"/>
              <a:t>You can import as many functions as you want from a module by separating each function’s name with a comma:</a:t>
            </a:r>
          </a:p>
          <a:p>
            <a:r>
              <a:rPr lang="en-US" sz="2400" dirty="0" smtClean="0"/>
              <a:t>from </a:t>
            </a:r>
            <a:r>
              <a:rPr lang="en-US" sz="2400" i="1" dirty="0" err="1" smtClean="0"/>
              <a:t>module_name</a:t>
            </a:r>
            <a:r>
              <a:rPr lang="en-US" sz="2400" i="1" dirty="0" smtClean="0"/>
              <a:t> </a:t>
            </a:r>
            <a:r>
              <a:rPr lang="en-US" sz="2400" dirty="0" smtClean="0"/>
              <a:t>import</a:t>
            </a:r>
            <a:r>
              <a:rPr lang="en-US" sz="2400" i="1" dirty="0" smtClean="0"/>
              <a:t> function_0, function_1, function_2</a:t>
            </a:r>
            <a:endParaRPr lang="en-US" sz="2400" dirty="0" smtClean="0"/>
          </a:p>
          <a:p>
            <a:r>
              <a:rPr lang="en-US" dirty="0" smtClean="0"/>
              <a:t>The </a:t>
            </a:r>
            <a:r>
              <a:rPr lang="en-US" i="1" dirty="0" smtClean="0"/>
              <a:t>making_pizzas.py </a:t>
            </a:r>
            <a:r>
              <a:rPr lang="en-US" dirty="0" smtClean="0"/>
              <a:t>example would look like this if we want to import</a:t>
            </a:r>
            <a:r>
              <a:rPr lang="en-US" i="1" dirty="0" smtClean="0"/>
              <a:t> </a:t>
            </a:r>
            <a:r>
              <a:rPr lang="en-US" dirty="0" smtClean="0"/>
              <a:t>just the function we’re going to use:</a:t>
            </a:r>
          </a:p>
          <a:p>
            <a:r>
              <a:rPr lang="en-US" dirty="0" smtClean="0"/>
              <a:t>from pizza import </a:t>
            </a:r>
            <a:r>
              <a:rPr lang="en-US" dirty="0" err="1" smtClean="0"/>
              <a:t>make_pizza</a:t>
            </a:r>
            <a:r>
              <a:rPr lang="en-US" dirty="0" smtClean="0"/>
              <a:t>		 </a:t>
            </a:r>
            <a:r>
              <a:rPr lang="en-US" dirty="0" err="1" smtClean="0"/>
              <a:t>make_pizza</a:t>
            </a:r>
            <a:r>
              <a:rPr lang="en-US" dirty="0" smtClean="0"/>
              <a:t>(16, 'pepperoni‘)			 </a:t>
            </a:r>
            <a:r>
              <a:rPr lang="en-US" sz="2400" dirty="0" err="1" smtClean="0"/>
              <a:t>make_pizza</a:t>
            </a:r>
            <a:r>
              <a:rPr lang="en-US" sz="2400" dirty="0" smtClean="0"/>
              <a:t>(12, 'mushrooms', 'green peppers', 'extra cheese')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Using as to Give a Function an Alias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use a short, unique alias—an alternate name similar to a nickname for the function.</a:t>
            </a:r>
          </a:p>
          <a:p>
            <a:r>
              <a:rPr lang="en-US" dirty="0" smtClean="0"/>
              <a:t>Here we give the function </a:t>
            </a:r>
            <a:r>
              <a:rPr lang="en-US" dirty="0" err="1" smtClean="0"/>
              <a:t>make_pizza</a:t>
            </a:r>
            <a:r>
              <a:rPr lang="en-US" dirty="0" smtClean="0"/>
              <a:t>() an alias, mp(), by importing </a:t>
            </a:r>
            <a:r>
              <a:rPr lang="en-US" dirty="0" err="1" smtClean="0"/>
              <a:t>make_pizza</a:t>
            </a:r>
            <a:r>
              <a:rPr lang="en-US" dirty="0" smtClean="0"/>
              <a:t> as mp. The as keyword renames a function using the alias you provide: 			from </a:t>
            </a:r>
            <a:r>
              <a:rPr lang="en-US" i="1" dirty="0" err="1" smtClean="0"/>
              <a:t>module_name</a:t>
            </a:r>
            <a:r>
              <a:rPr lang="en-US" i="1" dirty="0" smtClean="0"/>
              <a:t> </a:t>
            </a:r>
            <a:r>
              <a:rPr lang="en-US" dirty="0" smtClean="0"/>
              <a:t>impor</a:t>
            </a:r>
            <a:r>
              <a:rPr lang="en-US" i="1" dirty="0" smtClean="0"/>
              <a:t>t </a:t>
            </a:r>
            <a:r>
              <a:rPr lang="en-US" i="1" dirty="0" err="1" smtClean="0"/>
              <a:t>function_name</a:t>
            </a:r>
            <a:r>
              <a:rPr lang="en-US" i="1" dirty="0" smtClean="0"/>
              <a:t> as fn</a:t>
            </a:r>
            <a:endParaRPr lang="en-US" dirty="0" smtClean="0"/>
          </a:p>
          <a:p>
            <a:r>
              <a:rPr lang="en-US" dirty="0" smtClean="0"/>
              <a:t>from pizza import </a:t>
            </a:r>
            <a:r>
              <a:rPr lang="en-US" dirty="0" err="1" smtClean="0"/>
              <a:t>make_pizza</a:t>
            </a:r>
            <a:r>
              <a:rPr lang="en-US" dirty="0" smtClean="0"/>
              <a:t> as mp			 </a:t>
            </a:r>
            <a:r>
              <a:rPr lang="en-US" dirty="0" err="1" smtClean="0"/>
              <a:t>mp</a:t>
            </a:r>
            <a:r>
              <a:rPr lang="en-US" dirty="0" smtClean="0"/>
              <a:t>(16, 'pepperoni‘)						 mp(12, 'mushrooms', 'green peppers', 'extra cheese')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Using as to Give a Module an Alias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74088" cy="5334000"/>
          </a:xfrm>
        </p:spPr>
        <p:txBody>
          <a:bodyPr/>
          <a:lstStyle/>
          <a:p>
            <a:r>
              <a:rPr lang="en-US" dirty="0" smtClean="0"/>
              <a:t>You can also provide an alias for a module name. import </a:t>
            </a:r>
            <a:r>
              <a:rPr lang="en-US" i="1" dirty="0" err="1" smtClean="0"/>
              <a:t>module_name</a:t>
            </a:r>
            <a:r>
              <a:rPr lang="en-US" i="1" dirty="0" smtClean="0"/>
              <a:t> as </a:t>
            </a:r>
            <a:r>
              <a:rPr lang="en-US" i="1" dirty="0" err="1" smtClean="0"/>
              <a:t>mn</a:t>
            </a:r>
            <a:endParaRPr lang="en-US" dirty="0" smtClean="0"/>
          </a:p>
          <a:p>
            <a:r>
              <a:rPr lang="en-US" dirty="0" smtClean="0"/>
              <a:t>import pizza as p				 </a:t>
            </a:r>
            <a:r>
              <a:rPr lang="en-US" dirty="0" err="1" smtClean="0"/>
              <a:t>p.make_pizza</a:t>
            </a:r>
            <a:r>
              <a:rPr lang="en-US" dirty="0" smtClean="0"/>
              <a:t>(16, 'pepperoni‘)			 </a:t>
            </a:r>
            <a:r>
              <a:rPr lang="en-US" sz="2400" dirty="0" err="1" smtClean="0"/>
              <a:t>p.make_pizza</a:t>
            </a:r>
            <a:r>
              <a:rPr lang="en-US" sz="2400" dirty="0" smtClean="0"/>
              <a:t>(12, 'mushrooms', 'green peppers', 'extra cheese')</a:t>
            </a:r>
          </a:p>
          <a:p>
            <a:pPr>
              <a:buNone/>
            </a:pPr>
            <a:r>
              <a:rPr lang="en-US" sz="2400" b="1" i="1" dirty="0" smtClean="0"/>
              <a:t>Importing All Functions in a Module</a:t>
            </a:r>
          </a:p>
          <a:p>
            <a:r>
              <a:rPr lang="en-US" sz="2400" dirty="0" smtClean="0"/>
              <a:t>from </a:t>
            </a:r>
            <a:r>
              <a:rPr lang="en-US" sz="2400" i="1" dirty="0" err="1" smtClean="0"/>
              <a:t>module_name</a:t>
            </a:r>
            <a:r>
              <a:rPr lang="en-US" sz="2400" i="1" smtClean="0"/>
              <a:t> import *</a:t>
            </a:r>
            <a:endParaRPr lang="en-US" sz="2400" b="1" i="1" dirty="0" smtClean="0"/>
          </a:p>
          <a:p>
            <a:r>
              <a:rPr lang="en-US" sz="2400" dirty="0" smtClean="0"/>
              <a:t>You can tell Python to import every function in a module by using the asterisk (*) operator:</a:t>
            </a:r>
          </a:p>
          <a:p>
            <a:r>
              <a:rPr lang="en-US" sz="2400" dirty="0" smtClean="0"/>
              <a:t>from pizza import *					 </a:t>
            </a:r>
            <a:r>
              <a:rPr lang="en-US" sz="2400" dirty="0" err="1" smtClean="0"/>
              <a:t>make_pizza</a:t>
            </a:r>
            <a:r>
              <a:rPr lang="en-US" sz="2400" dirty="0" smtClean="0"/>
              <a:t>(16, 'pepperoni‘)					 </a:t>
            </a:r>
            <a:r>
              <a:rPr lang="en-US" sz="2400" dirty="0" err="1" smtClean="0"/>
              <a:t>make_pizza</a:t>
            </a:r>
            <a:r>
              <a:rPr lang="en-US" sz="2400" dirty="0" smtClean="0"/>
              <a:t>(12, 'mushrooms', 'green peppers', 'extra cheese')</a:t>
            </a:r>
            <a:endParaRPr lang="en-US" sz="2400" b="1" i="1" dirty="0" smtClean="0"/>
          </a:p>
          <a:p>
            <a:pPr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ASPOLLED" val="21DA32E7339E4201ADD21E4FFF7577A6"/>
  <p:tag name="TPVERSION" val="5"/>
  <p:tag name="TPFULLVERSION" val="5.2.0.3121"/>
  <p:tag name="PPTVERSION" val="14"/>
  <p:tag name="TPOS" val="2"/>
</p:tagLst>
</file>

<file path=ppt/theme/theme1.xml><?xml version="1.0" encoding="utf-8"?>
<a:theme xmlns:a="http://schemas.openxmlformats.org/drawingml/2006/main" name="prolog">
  <a:themeElements>
    <a:clrScheme name="">
      <a:dk1>
        <a:srgbClr val="000000"/>
      </a:dk1>
      <a:lt1>
        <a:srgbClr val="FFFFFF"/>
      </a:lt1>
      <a:dk2>
        <a:srgbClr val="FF0000"/>
      </a:dk2>
      <a:lt2>
        <a:srgbClr val="804000"/>
      </a:lt2>
      <a:accent1>
        <a:srgbClr val="007F00"/>
      </a:accent1>
      <a:accent2>
        <a:srgbClr val="3300FF"/>
      </a:accent2>
      <a:accent3>
        <a:srgbClr val="FFFFFF"/>
      </a:accent3>
      <a:accent4>
        <a:srgbClr val="000000"/>
      </a:accent4>
      <a:accent5>
        <a:srgbClr val="AAC0AA"/>
      </a:accent5>
      <a:accent6>
        <a:srgbClr val="2D00E7"/>
      </a:accent6>
      <a:hlink>
        <a:srgbClr val="BF00FF"/>
      </a:hlink>
      <a:folHlink>
        <a:srgbClr val="0073D9"/>
      </a:folHlink>
    </a:clrScheme>
    <a:fontScheme name="prolog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prolog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log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log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8">
        <a:dk1>
          <a:srgbClr val="000000"/>
        </a:dk1>
        <a:lt1>
          <a:srgbClr val="FFFFFF"/>
        </a:lt1>
        <a:dk2>
          <a:srgbClr val="FF0000"/>
        </a:dk2>
        <a:lt2>
          <a:srgbClr val="FF9900"/>
        </a:lt2>
        <a:accent1>
          <a:srgbClr val="0099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5C2D"/>
        </a:accent6>
        <a:hlink>
          <a:srgbClr val="CC00FF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Hunk:Applications:Microsoft Office 2004:Templates:My Templates:prolog.pot</Template>
  <TotalTime>5985</TotalTime>
  <Words>1569</Words>
  <Application>Microsoft Office PowerPoint</Application>
  <PresentationFormat>On-screen Show (4:3)</PresentationFormat>
  <Paragraphs>284</Paragraphs>
  <Slides>33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prolog</vt:lpstr>
      <vt:lpstr>Internet Of Things – Python Programming</vt:lpstr>
      <vt:lpstr>Anonymous Function – Lambda Functions</vt:lpstr>
      <vt:lpstr>Anonymous Function – Lambda Functions</vt:lpstr>
      <vt:lpstr>Anonymous Function – Lambda Functions</vt:lpstr>
      <vt:lpstr>Anonymous Function – Lambda Functions</vt:lpstr>
      <vt:lpstr>Anonymous Function – Lambda Functions </vt:lpstr>
      <vt:lpstr>Anonymous Function – Lambda Functions</vt:lpstr>
      <vt:lpstr>Higher-Order Functions</vt:lpstr>
      <vt:lpstr>MapMap() function</vt:lpstr>
      <vt:lpstr>MapMap() function example</vt:lpstr>
      <vt:lpstr>Using Lambda function with the map() function.</vt:lpstr>
      <vt:lpstr>Iterating over a dictionary using map and lambda</vt:lpstr>
      <vt:lpstr>MapMap() function example</vt:lpstr>
      <vt:lpstr>Filter( ) Function</vt:lpstr>
      <vt:lpstr>Filter( ) Function Example</vt:lpstr>
      <vt:lpstr>Filter( ) Function Example</vt:lpstr>
      <vt:lpstr>Filter( ) Function Example</vt:lpstr>
      <vt:lpstr>Reduce( ) Function</vt:lpstr>
      <vt:lpstr>Reduce( ) Function Example</vt:lpstr>
      <vt:lpstr>Reduce( ) Function Example</vt:lpstr>
      <vt:lpstr>Reduce( ) Function Example</vt:lpstr>
      <vt:lpstr>Recursion in Python</vt:lpstr>
      <vt:lpstr>Recursion in Python</vt:lpstr>
      <vt:lpstr>Recursion Example in Python</vt:lpstr>
      <vt:lpstr>Recursion Example in Python</vt:lpstr>
      <vt:lpstr>Recursion Example in Python</vt:lpstr>
      <vt:lpstr>Recursion Example in Python</vt:lpstr>
      <vt:lpstr>Modules in Python</vt:lpstr>
      <vt:lpstr>Importing an Entire Module</vt:lpstr>
      <vt:lpstr>Importing an Entire Module</vt:lpstr>
      <vt:lpstr>Importing Specific Functions</vt:lpstr>
      <vt:lpstr>Using as to Give a Function an Alias</vt:lpstr>
      <vt:lpstr>Using as to Give a Module an Alias</vt:lpstr>
    </vt:vector>
  </TitlesOfParts>
  <Company>House of Chaos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</dc:title>
  <dc:creator>Dave Matuszek</dc:creator>
  <cp:lastModifiedBy>a.mian</cp:lastModifiedBy>
  <cp:revision>859</cp:revision>
  <dcterms:created xsi:type="dcterms:W3CDTF">2005-10-18T13:18:42Z</dcterms:created>
  <dcterms:modified xsi:type="dcterms:W3CDTF">2022-05-23T05:59:44Z</dcterms:modified>
</cp:coreProperties>
</file>